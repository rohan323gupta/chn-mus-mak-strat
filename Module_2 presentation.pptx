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59" r:id="rId3"/>
    <p:sldId id="260" r:id="rId4"/>
    <p:sldId id="261" r:id="rId5"/>
    <p:sldId id="262" r:id="rId6"/>
    <p:sldId id="264" r:id="rId7"/>
    <p:sldId id="265" r:id="rId8"/>
    <p:sldId id="266" r:id="rId9"/>
    <p:sldId id="267" r:id="rId10"/>
    <p:sldId id="268" r:id="rId11"/>
    <p:sldId id="271" r:id="rId12"/>
    <p:sldId id="279" r:id="rId13"/>
    <p:sldId id="269" r:id="rId14"/>
    <p:sldId id="281" r:id="rId15"/>
    <p:sldId id="282" r:id="rId16"/>
    <p:sldId id="270" r:id="rId17"/>
    <p:sldId id="280"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A6A4"/>
    <a:srgbClr val="1A73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acer\Desktop\New%20folder\Module%202%20project\Module_2%20result.xlsx" TargetMode="External"/><Relationship Id="rId2" Type="http://schemas.microsoft.com/office/2011/relationships/chartColorStyle" Target="colors15.xml"/><Relationship Id="rId1" Type="http://schemas.microsoft.com/office/2011/relationships/chartStyle" Target="style1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Customer count per country</a:t>
            </a:r>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barChart>
        <c:barDir val="col"/>
        <c:grouping val="clustered"/>
        <c:varyColors val="0"/>
        <c:ser>
          <c:idx val="0"/>
          <c:order val="0"/>
          <c:tx>
            <c:strRef>
              <c:f>Subjective!$AS$3</c:f>
              <c:strCache>
                <c:ptCount val="1"/>
                <c:pt idx="0">
                  <c:v>customer_count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Subjective!$AR$4:$AR$27</c:f>
              <c:strCache>
                <c:ptCount val="24"/>
                <c:pt idx="0">
                  <c:v>USA</c:v>
                </c:pt>
                <c:pt idx="1">
                  <c:v>Canada</c:v>
                </c:pt>
                <c:pt idx="2">
                  <c:v>France</c:v>
                </c:pt>
                <c:pt idx="3">
                  <c:v>Poland</c:v>
                </c:pt>
                <c:pt idx="4">
                  <c:v>India</c:v>
                </c:pt>
                <c:pt idx="5">
                  <c:v>Germany</c:v>
                </c:pt>
                <c:pt idx="6">
                  <c:v>Portugal</c:v>
                </c:pt>
                <c:pt idx="7">
                  <c:v>Finland</c:v>
                </c:pt>
                <c:pt idx="8">
                  <c:v>Brazil</c:v>
                </c:pt>
                <c:pt idx="9">
                  <c:v>Denmark</c:v>
                </c:pt>
                <c:pt idx="10">
                  <c:v>United Kingdom</c:v>
                </c:pt>
                <c:pt idx="11">
                  <c:v>Norway</c:v>
                </c:pt>
                <c:pt idx="12">
                  <c:v>Australia</c:v>
                </c:pt>
                <c:pt idx="13">
                  <c:v>Hungary</c:v>
                </c:pt>
                <c:pt idx="14">
                  <c:v>Ireland</c:v>
                </c:pt>
                <c:pt idx="15">
                  <c:v>Sweden</c:v>
                </c:pt>
                <c:pt idx="16">
                  <c:v>Spain</c:v>
                </c:pt>
                <c:pt idx="17">
                  <c:v>Chile</c:v>
                </c:pt>
                <c:pt idx="18">
                  <c:v>Italy</c:v>
                </c:pt>
                <c:pt idx="19">
                  <c:v>Czech Republic</c:v>
                </c:pt>
                <c:pt idx="20">
                  <c:v>Netherlands</c:v>
                </c:pt>
                <c:pt idx="21">
                  <c:v>Belgium</c:v>
                </c:pt>
                <c:pt idx="22">
                  <c:v>Austria</c:v>
                </c:pt>
                <c:pt idx="23">
                  <c:v>Argentina</c:v>
                </c:pt>
              </c:strCache>
            </c:strRef>
          </c:cat>
          <c:val>
            <c:numRef>
              <c:f>Subjective!$AS$4:$AS$27</c:f>
              <c:numCache>
                <c:formatCode>General</c:formatCode>
                <c:ptCount val="24"/>
                <c:pt idx="0">
                  <c:v>13</c:v>
                </c:pt>
                <c:pt idx="1">
                  <c:v>8</c:v>
                </c:pt>
                <c:pt idx="2">
                  <c:v>5</c:v>
                </c:pt>
                <c:pt idx="3">
                  <c:v>1</c:v>
                </c:pt>
                <c:pt idx="4">
                  <c:v>2</c:v>
                </c:pt>
                <c:pt idx="5">
                  <c:v>4</c:v>
                </c:pt>
                <c:pt idx="6">
                  <c:v>2</c:v>
                </c:pt>
                <c:pt idx="7">
                  <c:v>1</c:v>
                </c:pt>
                <c:pt idx="8">
                  <c:v>5</c:v>
                </c:pt>
                <c:pt idx="9">
                  <c:v>1</c:v>
                </c:pt>
                <c:pt idx="10">
                  <c:v>3</c:v>
                </c:pt>
                <c:pt idx="11">
                  <c:v>1</c:v>
                </c:pt>
                <c:pt idx="12">
                  <c:v>1</c:v>
                </c:pt>
                <c:pt idx="13">
                  <c:v>1</c:v>
                </c:pt>
                <c:pt idx="14">
                  <c:v>1</c:v>
                </c:pt>
                <c:pt idx="15">
                  <c:v>1</c:v>
                </c:pt>
                <c:pt idx="16">
                  <c:v>1</c:v>
                </c:pt>
                <c:pt idx="17">
                  <c:v>1</c:v>
                </c:pt>
                <c:pt idx="18">
                  <c:v>1</c:v>
                </c:pt>
                <c:pt idx="19">
                  <c:v>2</c:v>
                </c:pt>
                <c:pt idx="20">
                  <c:v>1</c:v>
                </c:pt>
                <c:pt idx="21">
                  <c:v>1</c:v>
                </c:pt>
                <c:pt idx="22">
                  <c:v>1</c:v>
                </c:pt>
                <c:pt idx="23">
                  <c:v>1</c:v>
                </c:pt>
              </c:numCache>
            </c:numRef>
          </c:val>
          <c:extLst>
            <c:ext xmlns:c16="http://schemas.microsoft.com/office/drawing/2014/chart" uri="{C3380CC4-5D6E-409C-BE32-E72D297353CC}">
              <c16:uniqueId val="{00000000-99EA-45DB-BAEA-BE7AB438D0E8}"/>
            </c:ext>
          </c:extLst>
        </c:ser>
        <c:dLbls>
          <c:dLblPos val="outEnd"/>
          <c:showLegendKey val="0"/>
          <c:showVal val="1"/>
          <c:showCatName val="0"/>
          <c:showSerName val="0"/>
          <c:showPercent val="0"/>
          <c:showBubbleSize val="0"/>
        </c:dLbls>
        <c:gapWidth val="182"/>
        <c:axId val="870159856"/>
        <c:axId val="864548944"/>
      </c:barChart>
      <c:catAx>
        <c:axId val="870159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64548944"/>
        <c:crosses val="autoZero"/>
        <c:auto val="1"/>
        <c:lblAlgn val="ctr"/>
        <c:lblOffset val="100"/>
        <c:noMultiLvlLbl val="0"/>
      </c:catAx>
      <c:valAx>
        <c:axId val="864548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701598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a:t>Avg basket size &amp; amount spent</a:t>
            </a:r>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IN"/>
        </a:p>
      </c:txPr>
    </c:title>
    <c:autoTitleDeleted val="0"/>
    <c:plotArea>
      <c:layout/>
      <c:barChart>
        <c:barDir val="col"/>
        <c:grouping val="clustered"/>
        <c:varyColors val="0"/>
        <c:ser>
          <c:idx val="0"/>
          <c:order val="0"/>
          <c:tx>
            <c:strRef>
              <c:f>Subjective!$AT$3</c:f>
              <c:strCache>
                <c:ptCount val="1"/>
                <c:pt idx="0">
                  <c:v>cust_avg_amount</c:v>
                </c:pt>
              </c:strCache>
            </c:strRef>
          </c:tx>
          <c:spPr>
            <a:solidFill>
              <a:schemeClr val="accent1"/>
            </a:solidFill>
            <a:ln>
              <a:noFill/>
            </a:ln>
            <a:effectLst/>
          </c:spPr>
          <c:invertIfNegative val="0"/>
          <c:cat>
            <c:strRef>
              <c:f>Subjective!$AR$4:$AR$27</c:f>
              <c:strCache>
                <c:ptCount val="24"/>
                <c:pt idx="0">
                  <c:v>USA</c:v>
                </c:pt>
                <c:pt idx="1">
                  <c:v>Canada</c:v>
                </c:pt>
                <c:pt idx="2">
                  <c:v>France</c:v>
                </c:pt>
                <c:pt idx="3">
                  <c:v>Poland</c:v>
                </c:pt>
                <c:pt idx="4">
                  <c:v>India</c:v>
                </c:pt>
                <c:pt idx="5">
                  <c:v>Germany</c:v>
                </c:pt>
                <c:pt idx="6">
                  <c:v>Portugal</c:v>
                </c:pt>
                <c:pt idx="7">
                  <c:v>Finland</c:v>
                </c:pt>
                <c:pt idx="8">
                  <c:v>Brazil</c:v>
                </c:pt>
                <c:pt idx="9">
                  <c:v>Denmark</c:v>
                </c:pt>
                <c:pt idx="10">
                  <c:v>United Kingdom</c:v>
                </c:pt>
                <c:pt idx="11">
                  <c:v>Norway</c:v>
                </c:pt>
                <c:pt idx="12">
                  <c:v>Australia</c:v>
                </c:pt>
                <c:pt idx="13">
                  <c:v>Hungary</c:v>
                </c:pt>
                <c:pt idx="14">
                  <c:v>Ireland</c:v>
                </c:pt>
                <c:pt idx="15">
                  <c:v>Sweden</c:v>
                </c:pt>
                <c:pt idx="16">
                  <c:v>Spain</c:v>
                </c:pt>
                <c:pt idx="17">
                  <c:v>Chile</c:v>
                </c:pt>
                <c:pt idx="18">
                  <c:v>Italy</c:v>
                </c:pt>
                <c:pt idx="19">
                  <c:v>Czech Republic</c:v>
                </c:pt>
                <c:pt idx="20">
                  <c:v>Netherlands</c:v>
                </c:pt>
                <c:pt idx="21">
                  <c:v>Belgium</c:v>
                </c:pt>
                <c:pt idx="22">
                  <c:v>Austria</c:v>
                </c:pt>
                <c:pt idx="23">
                  <c:v>Argentina</c:v>
                </c:pt>
              </c:strCache>
            </c:strRef>
          </c:cat>
          <c:val>
            <c:numRef>
              <c:f>Subjective!$AT$4:$AT$27</c:f>
              <c:numCache>
                <c:formatCode>General</c:formatCode>
                <c:ptCount val="24"/>
                <c:pt idx="0">
                  <c:v>79.959999999999994</c:v>
                </c:pt>
                <c:pt idx="1">
                  <c:v>66.83</c:v>
                </c:pt>
                <c:pt idx="2">
                  <c:v>77.62</c:v>
                </c:pt>
                <c:pt idx="3">
                  <c:v>74.25</c:v>
                </c:pt>
                <c:pt idx="4">
                  <c:v>91.58</c:v>
                </c:pt>
                <c:pt idx="5">
                  <c:v>83.41</c:v>
                </c:pt>
                <c:pt idx="6">
                  <c:v>92.07</c:v>
                </c:pt>
                <c:pt idx="7">
                  <c:v>79.2</c:v>
                </c:pt>
                <c:pt idx="8">
                  <c:v>84.94</c:v>
                </c:pt>
                <c:pt idx="9">
                  <c:v>37.619999999999997</c:v>
                </c:pt>
                <c:pt idx="10">
                  <c:v>81.84</c:v>
                </c:pt>
                <c:pt idx="11">
                  <c:v>72.27</c:v>
                </c:pt>
                <c:pt idx="12">
                  <c:v>81.180000000000007</c:v>
                </c:pt>
                <c:pt idx="13">
                  <c:v>78.209999999999994</c:v>
                </c:pt>
                <c:pt idx="14">
                  <c:v>113.85</c:v>
                </c:pt>
                <c:pt idx="15">
                  <c:v>75.239999999999995</c:v>
                </c:pt>
                <c:pt idx="16">
                  <c:v>98.01</c:v>
                </c:pt>
                <c:pt idx="17">
                  <c:v>97.02</c:v>
                </c:pt>
                <c:pt idx="18">
                  <c:v>50.49</c:v>
                </c:pt>
                <c:pt idx="19">
                  <c:v>136.62</c:v>
                </c:pt>
                <c:pt idx="20">
                  <c:v>64.349999999999994</c:v>
                </c:pt>
                <c:pt idx="21">
                  <c:v>60.39</c:v>
                </c:pt>
                <c:pt idx="22">
                  <c:v>69.3</c:v>
                </c:pt>
                <c:pt idx="23">
                  <c:v>39.6</c:v>
                </c:pt>
              </c:numCache>
            </c:numRef>
          </c:val>
          <c:extLst>
            <c:ext xmlns:c16="http://schemas.microsoft.com/office/drawing/2014/chart" uri="{C3380CC4-5D6E-409C-BE32-E72D297353CC}">
              <c16:uniqueId val="{00000000-EF67-4AC7-A12C-FD3D7BD9D345}"/>
            </c:ext>
          </c:extLst>
        </c:ser>
        <c:ser>
          <c:idx val="1"/>
          <c:order val="1"/>
          <c:tx>
            <c:strRef>
              <c:f>Subjective!$AU$3</c:f>
              <c:strCache>
                <c:ptCount val="1"/>
                <c:pt idx="0">
                  <c:v>cust_avg_basket</c:v>
                </c:pt>
              </c:strCache>
            </c:strRef>
          </c:tx>
          <c:spPr>
            <a:solidFill>
              <a:schemeClr val="accent2"/>
            </a:solidFill>
            <a:ln>
              <a:noFill/>
            </a:ln>
            <a:effectLst/>
          </c:spPr>
          <c:invertIfNegative val="0"/>
          <c:cat>
            <c:strRef>
              <c:f>Subjective!$AR$4:$AR$27</c:f>
              <c:strCache>
                <c:ptCount val="24"/>
                <c:pt idx="0">
                  <c:v>USA</c:v>
                </c:pt>
                <c:pt idx="1">
                  <c:v>Canada</c:v>
                </c:pt>
                <c:pt idx="2">
                  <c:v>France</c:v>
                </c:pt>
                <c:pt idx="3">
                  <c:v>Poland</c:v>
                </c:pt>
                <c:pt idx="4">
                  <c:v>India</c:v>
                </c:pt>
                <c:pt idx="5">
                  <c:v>Germany</c:v>
                </c:pt>
                <c:pt idx="6">
                  <c:v>Portugal</c:v>
                </c:pt>
                <c:pt idx="7">
                  <c:v>Finland</c:v>
                </c:pt>
                <c:pt idx="8">
                  <c:v>Brazil</c:v>
                </c:pt>
                <c:pt idx="9">
                  <c:v>Denmark</c:v>
                </c:pt>
                <c:pt idx="10">
                  <c:v>United Kingdom</c:v>
                </c:pt>
                <c:pt idx="11">
                  <c:v>Norway</c:v>
                </c:pt>
                <c:pt idx="12">
                  <c:v>Australia</c:v>
                </c:pt>
                <c:pt idx="13">
                  <c:v>Hungary</c:v>
                </c:pt>
                <c:pt idx="14">
                  <c:v>Ireland</c:v>
                </c:pt>
                <c:pt idx="15">
                  <c:v>Sweden</c:v>
                </c:pt>
                <c:pt idx="16">
                  <c:v>Spain</c:v>
                </c:pt>
                <c:pt idx="17">
                  <c:v>Chile</c:v>
                </c:pt>
                <c:pt idx="18">
                  <c:v>Italy</c:v>
                </c:pt>
                <c:pt idx="19">
                  <c:v>Czech Republic</c:v>
                </c:pt>
                <c:pt idx="20">
                  <c:v>Netherlands</c:v>
                </c:pt>
                <c:pt idx="21">
                  <c:v>Belgium</c:v>
                </c:pt>
                <c:pt idx="22">
                  <c:v>Austria</c:v>
                </c:pt>
                <c:pt idx="23">
                  <c:v>Argentina</c:v>
                </c:pt>
              </c:strCache>
            </c:strRef>
          </c:cat>
          <c:val>
            <c:numRef>
              <c:f>Subjective!$AU$4:$AU$27</c:f>
              <c:numCache>
                <c:formatCode>General</c:formatCode>
                <c:ptCount val="24"/>
                <c:pt idx="0">
                  <c:v>80.77</c:v>
                </c:pt>
                <c:pt idx="1">
                  <c:v>67.5</c:v>
                </c:pt>
                <c:pt idx="2">
                  <c:v>78.400000000000006</c:v>
                </c:pt>
                <c:pt idx="3">
                  <c:v>75</c:v>
                </c:pt>
                <c:pt idx="4">
                  <c:v>92.5</c:v>
                </c:pt>
                <c:pt idx="5">
                  <c:v>84.25</c:v>
                </c:pt>
                <c:pt idx="6">
                  <c:v>93</c:v>
                </c:pt>
                <c:pt idx="7">
                  <c:v>80</c:v>
                </c:pt>
                <c:pt idx="8">
                  <c:v>85.8</c:v>
                </c:pt>
                <c:pt idx="9">
                  <c:v>38</c:v>
                </c:pt>
                <c:pt idx="10">
                  <c:v>82.67</c:v>
                </c:pt>
                <c:pt idx="11">
                  <c:v>73</c:v>
                </c:pt>
                <c:pt idx="12">
                  <c:v>82</c:v>
                </c:pt>
                <c:pt idx="13">
                  <c:v>79</c:v>
                </c:pt>
                <c:pt idx="14">
                  <c:v>115</c:v>
                </c:pt>
                <c:pt idx="15">
                  <c:v>76</c:v>
                </c:pt>
                <c:pt idx="16">
                  <c:v>99</c:v>
                </c:pt>
                <c:pt idx="17">
                  <c:v>98</c:v>
                </c:pt>
                <c:pt idx="18">
                  <c:v>51</c:v>
                </c:pt>
                <c:pt idx="19">
                  <c:v>138</c:v>
                </c:pt>
                <c:pt idx="20">
                  <c:v>65</c:v>
                </c:pt>
                <c:pt idx="21">
                  <c:v>61</c:v>
                </c:pt>
                <c:pt idx="22">
                  <c:v>70</c:v>
                </c:pt>
                <c:pt idx="23">
                  <c:v>40</c:v>
                </c:pt>
              </c:numCache>
            </c:numRef>
          </c:val>
          <c:extLst>
            <c:ext xmlns:c16="http://schemas.microsoft.com/office/drawing/2014/chart" uri="{C3380CC4-5D6E-409C-BE32-E72D297353CC}">
              <c16:uniqueId val="{00000001-EF67-4AC7-A12C-FD3D7BD9D345}"/>
            </c:ext>
          </c:extLst>
        </c:ser>
        <c:dLbls>
          <c:showLegendKey val="0"/>
          <c:showVal val="0"/>
          <c:showCatName val="0"/>
          <c:showSerName val="0"/>
          <c:showPercent val="0"/>
          <c:showBubbleSize val="0"/>
        </c:dLbls>
        <c:gapWidth val="219"/>
        <c:overlap val="-27"/>
        <c:axId val="870158896"/>
        <c:axId val="870160816"/>
      </c:barChart>
      <c:catAx>
        <c:axId val="870158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70160816"/>
        <c:crosses val="autoZero"/>
        <c:auto val="1"/>
        <c:lblAlgn val="ctr"/>
        <c:lblOffset val="100"/>
        <c:noMultiLvlLbl val="0"/>
      </c:catAx>
      <c:valAx>
        <c:axId val="8701608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70158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[Module_2 result.xlsx]Objective!PivotTable47</c:name>
    <c:fmtId val="10"/>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Objective!$J$58</c:f>
              <c:strCache>
                <c:ptCount val="1"/>
                <c:pt idx="0">
                  <c:v>Sum of total_revenue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Objective!$I$59:$I$69</c:f>
              <c:strCache>
                <c:ptCount val="10"/>
                <c:pt idx="0">
                  <c:v>Brazil</c:v>
                </c:pt>
                <c:pt idx="1">
                  <c:v>Canada</c:v>
                </c:pt>
                <c:pt idx="2">
                  <c:v>Czech Republic</c:v>
                </c:pt>
                <c:pt idx="3">
                  <c:v>France</c:v>
                </c:pt>
                <c:pt idx="4">
                  <c:v>Germany</c:v>
                </c:pt>
                <c:pt idx="5">
                  <c:v>India</c:v>
                </c:pt>
                <c:pt idx="6">
                  <c:v>Ireland</c:v>
                </c:pt>
                <c:pt idx="7">
                  <c:v>Portugal</c:v>
                </c:pt>
                <c:pt idx="8">
                  <c:v>United Kingdom</c:v>
                </c:pt>
                <c:pt idx="9">
                  <c:v>USA</c:v>
                </c:pt>
              </c:strCache>
            </c:strRef>
          </c:cat>
          <c:val>
            <c:numRef>
              <c:f>Objective!$J$59:$J$69</c:f>
              <c:numCache>
                <c:formatCode>General</c:formatCode>
                <c:ptCount val="10"/>
                <c:pt idx="0">
                  <c:v>427.68</c:v>
                </c:pt>
                <c:pt idx="1">
                  <c:v>535.59</c:v>
                </c:pt>
                <c:pt idx="2">
                  <c:v>273.24</c:v>
                </c:pt>
                <c:pt idx="3">
                  <c:v>389.07000000000005</c:v>
                </c:pt>
                <c:pt idx="4">
                  <c:v>334.62</c:v>
                </c:pt>
                <c:pt idx="5">
                  <c:v>183.15</c:v>
                </c:pt>
                <c:pt idx="6">
                  <c:v>114.84</c:v>
                </c:pt>
                <c:pt idx="7">
                  <c:v>185.13</c:v>
                </c:pt>
                <c:pt idx="8">
                  <c:v>245.51999999999998</c:v>
                </c:pt>
                <c:pt idx="9">
                  <c:v>1040.49</c:v>
                </c:pt>
              </c:numCache>
            </c:numRef>
          </c:val>
          <c:extLst>
            <c:ext xmlns:c16="http://schemas.microsoft.com/office/drawing/2014/chart" uri="{C3380CC4-5D6E-409C-BE32-E72D297353CC}">
              <c16:uniqueId val="{00000000-40F5-41D8-999C-2B019FC0BE1C}"/>
            </c:ext>
          </c:extLst>
        </c:ser>
        <c:ser>
          <c:idx val="1"/>
          <c:order val="1"/>
          <c:tx>
            <c:strRef>
              <c:f>Objective!$K$58</c:f>
              <c:strCache>
                <c:ptCount val="1"/>
                <c:pt idx="0">
                  <c:v>Sum of number_of_invoices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Objective!$I$59:$I$69</c:f>
              <c:strCache>
                <c:ptCount val="10"/>
                <c:pt idx="0">
                  <c:v>Brazil</c:v>
                </c:pt>
                <c:pt idx="1">
                  <c:v>Canada</c:v>
                </c:pt>
                <c:pt idx="2">
                  <c:v>Czech Republic</c:v>
                </c:pt>
                <c:pt idx="3">
                  <c:v>France</c:v>
                </c:pt>
                <c:pt idx="4">
                  <c:v>Germany</c:v>
                </c:pt>
                <c:pt idx="5">
                  <c:v>India</c:v>
                </c:pt>
                <c:pt idx="6">
                  <c:v>Ireland</c:v>
                </c:pt>
                <c:pt idx="7">
                  <c:v>Portugal</c:v>
                </c:pt>
                <c:pt idx="8">
                  <c:v>United Kingdom</c:v>
                </c:pt>
                <c:pt idx="9">
                  <c:v>USA</c:v>
                </c:pt>
              </c:strCache>
            </c:strRef>
          </c:cat>
          <c:val>
            <c:numRef>
              <c:f>Objective!$K$59:$K$69</c:f>
              <c:numCache>
                <c:formatCode>General</c:formatCode>
                <c:ptCount val="10"/>
                <c:pt idx="0">
                  <c:v>61</c:v>
                </c:pt>
                <c:pt idx="1">
                  <c:v>76</c:v>
                </c:pt>
                <c:pt idx="2">
                  <c:v>30</c:v>
                </c:pt>
                <c:pt idx="3">
                  <c:v>50</c:v>
                </c:pt>
                <c:pt idx="4">
                  <c:v>41</c:v>
                </c:pt>
                <c:pt idx="5">
                  <c:v>21</c:v>
                </c:pt>
                <c:pt idx="6">
                  <c:v>13</c:v>
                </c:pt>
                <c:pt idx="7">
                  <c:v>29</c:v>
                </c:pt>
                <c:pt idx="8">
                  <c:v>28</c:v>
                </c:pt>
                <c:pt idx="9">
                  <c:v>131</c:v>
                </c:pt>
              </c:numCache>
            </c:numRef>
          </c:val>
          <c:extLst>
            <c:ext xmlns:c16="http://schemas.microsoft.com/office/drawing/2014/chart" uri="{C3380CC4-5D6E-409C-BE32-E72D297353CC}">
              <c16:uniqueId val="{00000001-40F5-41D8-999C-2B019FC0BE1C}"/>
            </c:ext>
          </c:extLst>
        </c:ser>
        <c:dLbls>
          <c:dLblPos val="outEnd"/>
          <c:showLegendKey val="0"/>
          <c:showVal val="1"/>
          <c:showCatName val="0"/>
          <c:showSerName val="0"/>
          <c:showPercent val="0"/>
          <c:showBubbleSize val="0"/>
        </c:dLbls>
        <c:gapWidth val="182"/>
        <c:axId val="625431552"/>
        <c:axId val="625425792"/>
      </c:barChart>
      <c:catAx>
        <c:axId val="62543155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25425792"/>
        <c:crosses val="autoZero"/>
        <c:auto val="1"/>
        <c:lblAlgn val="ctr"/>
        <c:lblOffset val="100"/>
        <c:noMultiLvlLbl val="0"/>
      </c:catAx>
      <c:valAx>
        <c:axId val="6254257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2543155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4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barChart>
        <c:barDir val="bar"/>
        <c:grouping val="clustered"/>
        <c:varyColors val="0"/>
        <c:ser>
          <c:idx val="0"/>
          <c:order val="0"/>
          <c:tx>
            <c:strRef>
              <c:f>Objective!$AW$2</c:f>
              <c:strCache>
                <c:ptCount val="1"/>
                <c:pt idx="0">
                  <c:v>genre_revenue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Objective!$AV$3:$AV$19</c:f>
              <c:strCache>
                <c:ptCount val="17"/>
                <c:pt idx="0">
                  <c:v>Rock</c:v>
                </c:pt>
                <c:pt idx="1">
                  <c:v>Alternative &amp; Punk</c:v>
                </c:pt>
                <c:pt idx="2">
                  <c:v>Metal</c:v>
                </c:pt>
                <c:pt idx="3">
                  <c:v>R&amp;B/Soul</c:v>
                </c:pt>
                <c:pt idx="4">
                  <c:v>Blues</c:v>
                </c:pt>
                <c:pt idx="5">
                  <c:v>Alternative</c:v>
                </c:pt>
                <c:pt idx="6">
                  <c:v>Latin</c:v>
                </c:pt>
                <c:pt idx="7">
                  <c:v>Pop</c:v>
                </c:pt>
                <c:pt idx="8">
                  <c:v>Hip Hop/Rap</c:v>
                </c:pt>
                <c:pt idx="9">
                  <c:v>Jazz</c:v>
                </c:pt>
                <c:pt idx="10">
                  <c:v>Easy Listening</c:v>
                </c:pt>
                <c:pt idx="11">
                  <c:v>Reggae</c:v>
                </c:pt>
                <c:pt idx="12">
                  <c:v>Electronica/Dance</c:v>
                </c:pt>
                <c:pt idx="13">
                  <c:v>Classical</c:v>
                </c:pt>
                <c:pt idx="14">
                  <c:v>Heavy Metal</c:v>
                </c:pt>
                <c:pt idx="15">
                  <c:v>Soundtrack</c:v>
                </c:pt>
                <c:pt idx="16">
                  <c:v>TV Shows</c:v>
                </c:pt>
              </c:strCache>
            </c:strRef>
          </c:cat>
          <c:val>
            <c:numRef>
              <c:f>Objective!$AW$3:$AW$19</c:f>
              <c:numCache>
                <c:formatCode>General</c:formatCode>
                <c:ptCount val="17"/>
                <c:pt idx="0">
                  <c:v>555.39</c:v>
                </c:pt>
                <c:pt idx="1">
                  <c:v>127.71</c:v>
                </c:pt>
                <c:pt idx="2">
                  <c:v>122.76</c:v>
                </c:pt>
                <c:pt idx="3">
                  <c:v>52.47</c:v>
                </c:pt>
                <c:pt idx="4">
                  <c:v>35.64</c:v>
                </c:pt>
                <c:pt idx="5">
                  <c:v>34.65</c:v>
                </c:pt>
                <c:pt idx="6">
                  <c:v>21.78</c:v>
                </c:pt>
                <c:pt idx="7">
                  <c:v>21.78</c:v>
                </c:pt>
                <c:pt idx="8">
                  <c:v>19.8</c:v>
                </c:pt>
                <c:pt idx="9">
                  <c:v>13.86</c:v>
                </c:pt>
                <c:pt idx="10">
                  <c:v>12.87</c:v>
                </c:pt>
                <c:pt idx="11">
                  <c:v>5.94</c:v>
                </c:pt>
                <c:pt idx="12">
                  <c:v>4.95</c:v>
                </c:pt>
                <c:pt idx="13">
                  <c:v>3.96</c:v>
                </c:pt>
                <c:pt idx="14">
                  <c:v>2.97</c:v>
                </c:pt>
                <c:pt idx="15">
                  <c:v>1.98</c:v>
                </c:pt>
                <c:pt idx="16">
                  <c:v>0.99</c:v>
                </c:pt>
              </c:numCache>
            </c:numRef>
          </c:val>
          <c:extLst>
            <c:ext xmlns:c16="http://schemas.microsoft.com/office/drawing/2014/chart" uri="{C3380CC4-5D6E-409C-BE32-E72D297353CC}">
              <c16:uniqueId val="{00000000-FCB8-490A-ABFA-CD3B843E3D02}"/>
            </c:ext>
          </c:extLst>
        </c:ser>
        <c:dLbls>
          <c:dLblPos val="outEnd"/>
          <c:showLegendKey val="0"/>
          <c:showVal val="1"/>
          <c:showCatName val="0"/>
          <c:showSerName val="0"/>
          <c:showPercent val="0"/>
          <c:showBubbleSize val="0"/>
        </c:dLbls>
        <c:gapWidth val="182"/>
        <c:axId val="625408992"/>
        <c:axId val="625409472"/>
      </c:barChart>
      <c:catAx>
        <c:axId val="6254089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25409472"/>
        <c:crosses val="autoZero"/>
        <c:auto val="1"/>
        <c:lblAlgn val="ctr"/>
        <c:lblOffset val="100"/>
        <c:noMultiLvlLbl val="0"/>
      </c:catAx>
      <c:valAx>
        <c:axId val="6254094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254089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[Module_2 result.xlsx]Subjective!PivotTable32</c:name>
    <c:fmtId val="9"/>
  </c:pivotSource>
  <c:chart>
    <c:title>
      <c:tx>
        <c:rich>
          <a:bodyPr rot="0" spcFirstLastPara="1" vertOverflow="ellipsis" vert="horz" wrap="square" anchor="ctr" anchorCtr="1"/>
          <a:lstStyle/>
          <a:p>
            <a:pPr>
              <a:defRPr sz="144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Revenue per genre per country</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Subjective!$C$35</c:f>
              <c:strCache>
                <c:ptCount val="1"/>
                <c:pt idx="0">
                  <c:v>Total</c:v>
                </c:pt>
              </c:strCache>
            </c:strRef>
          </c:tx>
          <c:spPr>
            <a:solidFill>
              <a:schemeClr val="accent1"/>
            </a:solidFill>
            <a:ln>
              <a:noFill/>
            </a:ln>
            <a:effectLst/>
          </c:spPr>
          <c:invertIfNegative val="0"/>
          <c:cat>
            <c:multiLvlStrRef>
              <c:f>Subjective!$B$36:$B$61</c:f>
              <c:multiLvlStrCache>
                <c:ptCount val="23"/>
                <c:lvl>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lvl>
                <c:lvl>
                  <c:pt idx="0">
                    <c:v>Alternative &amp; Punk</c:v>
                  </c:pt>
                  <c:pt idx="1">
                    <c:v>Rock</c:v>
                  </c:pt>
                </c:lvl>
              </c:multiLvlStrCache>
            </c:multiLvlStrRef>
          </c:cat>
          <c:val>
            <c:numRef>
              <c:f>Subjective!$C$36:$C$61</c:f>
              <c:numCache>
                <c:formatCode>General</c:formatCode>
                <c:ptCount val="23"/>
                <c:pt idx="0">
                  <c:v>16.829999999999998</c:v>
                </c:pt>
                <c:pt idx="1">
                  <c:v>33.659999999999997</c:v>
                </c:pt>
                <c:pt idx="2">
                  <c:v>39.6</c:v>
                </c:pt>
                <c:pt idx="3">
                  <c:v>25.74</c:v>
                </c:pt>
                <c:pt idx="4">
                  <c:v>202.95</c:v>
                </c:pt>
                <c:pt idx="5">
                  <c:v>329.67</c:v>
                </c:pt>
                <c:pt idx="6">
                  <c:v>60.39</c:v>
                </c:pt>
                <c:pt idx="7">
                  <c:v>141.57</c:v>
                </c:pt>
                <c:pt idx="8">
                  <c:v>23.76</c:v>
                </c:pt>
                <c:pt idx="9">
                  <c:v>45.54</c:v>
                </c:pt>
                <c:pt idx="10">
                  <c:v>207.9</c:v>
                </c:pt>
                <c:pt idx="11">
                  <c:v>192.06</c:v>
                </c:pt>
                <c:pt idx="12">
                  <c:v>43.56</c:v>
                </c:pt>
                <c:pt idx="13">
                  <c:v>100.98</c:v>
                </c:pt>
                <c:pt idx="14">
                  <c:v>70.290000000000006</c:v>
                </c:pt>
                <c:pt idx="15">
                  <c:v>34.65</c:v>
                </c:pt>
                <c:pt idx="16">
                  <c:v>31.68</c:v>
                </c:pt>
                <c:pt idx="17">
                  <c:v>39.6</c:v>
                </c:pt>
                <c:pt idx="18">
                  <c:v>38.61</c:v>
                </c:pt>
                <c:pt idx="19">
                  <c:v>106.92</c:v>
                </c:pt>
                <c:pt idx="20">
                  <c:v>45.54</c:v>
                </c:pt>
                <c:pt idx="21">
                  <c:v>59.4</c:v>
                </c:pt>
                <c:pt idx="22">
                  <c:v>164.34</c:v>
                </c:pt>
              </c:numCache>
            </c:numRef>
          </c:val>
          <c:extLst>
            <c:ext xmlns:c16="http://schemas.microsoft.com/office/drawing/2014/chart" uri="{C3380CC4-5D6E-409C-BE32-E72D297353CC}">
              <c16:uniqueId val="{00000000-9995-4D14-8F1A-28D9E67EA9EF}"/>
            </c:ext>
          </c:extLst>
        </c:ser>
        <c:dLbls>
          <c:showLegendKey val="0"/>
          <c:showVal val="0"/>
          <c:showCatName val="0"/>
          <c:showSerName val="0"/>
          <c:showPercent val="0"/>
          <c:showBubbleSize val="0"/>
        </c:dLbls>
        <c:gapWidth val="219"/>
        <c:overlap val="-27"/>
        <c:axId val="681878112"/>
        <c:axId val="681894912"/>
      </c:barChart>
      <c:catAx>
        <c:axId val="681878112"/>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a:t>Genres</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81894912"/>
        <c:crosses val="autoZero"/>
        <c:auto val="1"/>
        <c:lblAlgn val="ctr"/>
        <c:lblOffset val="100"/>
        <c:noMultiLvlLbl val="0"/>
      </c:catAx>
      <c:valAx>
        <c:axId val="681894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818781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[Module_2 result.xlsx]Objective!PivotTable121</c:name>
    <c:fmtId val="-1"/>
  </c:pivotSource>
  <c:chart>
    <c:title>
      <c:tx>
        <c:rich>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a:t>Sales count</a:t>
            </a:r>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Objective!$Z$54:$Z$55</c:f>
              <c:strCache>
                <c:ptCount val="1"/>
                <c:pt idx="0">
                  <c:v>2017</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Objective!$Y$56:$Y$67</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Objective!$Z$56:$Z$67</c:f>
              <c:numCache>
                <c:formatCode>General</c:formatCode>
                <c:ptCount val="12"/>
                <c:pt idx="0">
                  <c:v>17</c:v>
                </c:pt>
                <c:pt idx="1">
                  <c:v>19</c:v>
                </c:pt>
                <c:pt idx="2">
                  <c:v>13</c:v>
                </c:pt>
                <c:pt idx="3">
                  <c:v>17</c:v>
                </c:pt>
                <c:pt idx="4">
                  <c:v>12</c:v>
                </c:pt>
                <c:pt idx="5">
                  <c:v>12</c:v>
                </c:pt>
                <c:pt idx="6">
                  <c:v>11</c:v>
                </c:pt>
                <c:pt idx="7">
                  <c:v>11</c:v>
                </c:pt>
                <c:pt idx="8">
                  <c:v>13</c:v>
                </c:pt>
                <c:pt idx="9">
                  <c:v>13</c:v>
                </c:pt>
                <c:pt idx="10">
                  <c:v>11</c:v>
                </c:pt>
                <c:pt idx="11">
                  <c:v>5</c:v>
                </c:pt>
              </c:numCache>
            </c:numRef>
          </c:val>
          <c:smooth val="0"/>
          <c:extLst>
            <c:ext xmlns:c16="http://schemas.microsoft.com/office/drawing/2014/chart" uri="{C3380CC4-5D6E-409C-BE32-E72D297353CC}">
              <c16:uniqueId val="{00000000-070C-4E1C-AB13-BBD714429C20}"/>
            </c:ext>
          </c:extLst>
        </c:ser>
        <c:ser>
          <c:idx val="1"/>
          <c:order val="1"/>
          <c:tx>
            <c:strRef>
              <c:f>Objective!$AA$54:$AA$55</c:f>
              <c:strCache>
                <c:ptCount val="1"/>
                <c:pt idx="0">
                  <c:v>2018</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Objective!$Y$56:$Y$67</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Objective!$AA$56:$AA$67</c:f>
              <c:numCache>
                <c:formatCode>General</c:formatCode>
                <c:ptCount val="12"/>
                <c:pt idx="0">
                  <c:v>22</c:v>
                </c:pt>
                <c:pt idx="1">
                  <c:v>18</c:v>
                </c:pt>
                <c:pt idx="2">
                  <c:v>18</c:v>
                </c:pt>
                <c:pt idx="3">
                  <c:v>10</c:v>
                </c:pt>
                <c:pt idx="4">
                  <c:v>10</c:v>
                </c:pt>
                <c:pt idx="5">
                  <c:v>13</c:v>
                </c:pt>
                <c:pt idx="6">
                  <c:v>11</c:v>
                </c:pt>
                <c:pt idx="7">
                  <c:v>16</c:v>
                </c:pt>
                <c:pt idx="8">
                  <c:v>6</c:v>
                </c:pt>
                <c:pt idx="9">
                  <c:v>8</c:v>
                </c:pt>
                <c:pt idx="10">
                  <c:v>7</c:v>
                </c:pt>
                <c:pt idx="11">
                  <c:v>12</c:v>
                </c:pt>
              </c:numCache>
            </c:numRef>
          </c:val>
          <c:smooth val="0"/>
          <c:extLst>
            <c:ext xmlns:c16="http://schemas.microsoft.com/office/drawing/2014/chart" uri="{C3380CC4-5D6E-409C-BE32-E72D297353CC}">
              <c16:uniqueId val="{00000001-070C-4E1C-AB13-BBD714429C20}"/>
            </c:ext>
          </c:extLst>
        </c:ser>
        <c:ser>
          <c:idx val="2"/>
          <c:order val="2"/>
          <c:tx>
            <c:strRef>
              <c:f>Objective!$AB$54:$AB$55</c:f>
              <c:strCache>
                <c:ptCount val="1"/>
                <c:pt idx="0">
                  <c:v>2019</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Objective!$Y$56:$Y$67</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Objective!$AB$56:$AB$67</c:f>
              <c:numCache>
                <c:formatCode>General</c:formatCode>
                <c:ptCount val="12"/>
                <c:pt idx="0">
                  <c:v>10</c:v>
                </c:pt>
                <c:pt idx="1">
                  <c:v>7</c:v>
                </c:pt>
                <c:pt idx="2">
                  <c:v>14</c:v>
                </c:pt>
                <c:pt idx="3">
                  <c:v>17</c:v>
                </c:pt>
                <c:pt idx="4">
                  <c:v>16</c:v>
                </c:pt>
                <c:pt idx="5">
                  <c:v>13</c:v>
                </c:pt>
                <c:pt idx="6">
                  <c:v>15</c:v>
                </c:pt>
                <c:pt idx="7">
                  <c:v>19</c:v>
                </c:pt>
                <c:pt idx="8">
                  <c:v>19</c:v>
                </c:pt>
                <c:pt idx="9">
                  <c:v>6</c:v>
                </c:pt>
                <c:pt idx="10">
                  <c:v>8</c:v>
                </c:pt>
                <c:pt idx="11">
                  <c:v>15</c:v>
                </c:pt>
              </c:numCache>
            </c:numRef>
          </c:val>
          <c:smooth val="0"/>
          <c:extLst>
            <c:ext xmlns:c16="http://schemas.microsoft.com/office/drawing/2014/chart" uri="{C3380CC4-5D6E-409C-BE32-E72D297353CC}">
              <c16:uniqueId val="{00000002-070C-4E1C-AB13-BBD714429C20}"/>
            </c:ext>
          </c:extLst>
        </c:ser>
        <c:ser>
          <c:idx val="3"/>
          <c:order val="3"/>
          <c:tx>
            <c:strRef>
              <c:f>Objective!$AC$54:$AC$55</c:f>
              <c:strCache>
                <c:ptCount val="1"/>
                <c:pt idx="0">
                  <c:v>2020</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Objective!$Y$56:$Y$67</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Objective!$AC$56:$AC$67</c:f>
              <c:numCache>
                <c:formatCode>General</c:formatCode>
                <c:ptCount val="12"/>
                <c:pt idx="0">
                  <c:v>8</c:v>
                </c:pt>
                <c:pt idx="1">
                  <c:v>11</c:v>
                </c:pt>
                <c:pt idx="2">
                  <c:v>11</c:v>
                </c:pt>
                <c:pt idx="3">
                  <c:v>16</c:v>
                </c:pt>
                <c:pt idx="4">
                  <c:v>13</c:v>
                </c:pt>
                <c:pt idx="5">
                  <c:v>11</c:v>
                </c:pt>
                <c:pt idx="6">
                  <c:v>12</c:v>
                </c:pt>
                <c:pt idx="7">
                  <c:v>8</c:v>
                </c:pt>
                <c:pt idx="8">
                  <c:v>13</c:v>
                </c:pt>
                <c:pt idx="9">
                  <c:v>18</c:v>
                </c:pt>
                <c:pt idx="10">
                  <c:v>12</c:v>
                </c:pt>
                <c:pt idx="11">
                  <c:v>17</c:v>
                </c:pt>
              </c:numCache>
            </c:numRef>
          </c:val>
          <c:smooth val="0"/>
          <c:extLst>
            <c:ext xmlns:c16="http://schemas.microsoft.com/office/drawing/2014/chart" uri="{C3380CC4-5D6E-409C-BE32-E72D297353CC}">
              <c16:uniqueId val="{00000003-070C-4E1C-AB13-BBD714429C20}"/>
            </c:ext>
          </c:extLst>
        </c:ser>
        <c:dLbls>
          <c:showLegendKey val="0"/>
          <c:showVal val="0"/>
          <c:showCatName val="0"/>
          <c:showSerName val="0"/>
          <c:showPercent val="0"/>
          <c:showBubbleSize val="0"/>
        </c:dLbls>
        <c:marker val="1"/>
        <c:smooth val="0"/>
        <c:axId val="782980640"/>
        <c:axId val="782981600"/>
      </c:lineChart>
      <c:catAx>
        <c:axId val="78298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82981600"/>
        <c:crosses val="autoZero"/>
        <c:auto val="1"/>
        <c:lblAlgn val="ctr"/>
        <c:lblOffset val="100"/>
        <c:noMultiLvlLbl val="0"/>
      </c:catAx>
      <c:valAx>
        <c:axId val="7829816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829806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[Module_2 result.xlsx]Objective!PivotTable122</c:name>
    <c:fmtId val="-1"/>
  </c:pivotSource>
  <c:chart>
    <c:title>
      <c:tx>
        <c:rich>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a:t>Revenue generated</a:t>
            </a:r>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IN"/>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Objective!$Z$70:$Z$71</c:f>
              <c:strCache>
                <c:ptCount val="1"/>
                <c:pt idx="0">
                  <c:v>2017</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Objective!$Y$72:$Y$83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Objective!$Z$72:$Z$83</c:f>
              <c:numCache>
                <c:formatCode>General</c:formatCode>
                <c:ptCount val="12"/>
                <c:pt idx="0">
                  <c:v>126.72</c:v>
                </c:pt>
                <c:pt idx="1">
                  <c:v>140.58000000000001</c:v>
                </c:pt>
                <c:pt idx="2">
                  <c:v>102.96</c:v>
                </c:pt>
                <c:pt idx="3">
                  <c:v>142.56</c:v>
                </c:pt>
                <c:pt idx="4">
                  <c:v>104.94</c:v>
                </c:pt>
                <c:pt idx="5">
                  <c:v>75.239999999999995</c:v>
                </c:pt>
                <c:pt idx="6">
                  <c:v>108.9</c:v>
                </c:pt>
                <c:pt idx="7">
                  <c:v>88.11</c:v>
                </c:pt>
                <c:pt idx="8">
                  <c:v>107.91</c:v>
                </c:pt>
                <c:pt idx="9">
                  <c:v>79.2</c:v>
                </c:pt>
                <c:pt idx="10">
                  <c:v>94.05</c:v>
                </c:pt>
                <c:pt idx="11">
                  <c:v>28.71</c:v>
                </c:pt>
              </c:numCache>
            </c:numRef>
          </c:val>
          <c:smooth val="0"/>
          <c:extLst>
            <c:ext xmlns:c16="http://schemas.microsoft.com/office/drawing/2014/chart" uri="{C3380CC4-5D6E-409C-BE32-E72D297353CC}">
              <c16:uniqueId val="{00000000-286F-42D8-A878-AE9DADD5F66E}"/>
            </c:ext>
          </c:extLst>
        </c:ser>
        <c:ser>
          <c:idx val="1"/>
          <c:order val="1"/>
          <c:tx>
            <c:strRef>
              <c:f>Objective!$AA$70:$AA$71</c:f>
              <c:strCache>
                <c:ptCount val="1"/>
                <c:pt idx="0">
                  <c:v>2018</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Objective!$Y$72:$Y$83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Objective!$AA$72:$AA$83</c:f>
              <c:numCache>
                <c:formatCode>General</c:formatCode>
                <c:ptCount val="12"/>
                <c:pt idx="0">
                  <c:v>183.15</c:v>
                </c:pt>
                <c:pt idx="1">
                  <c:v>116.82</c:v>
                </c:pt>
                <c:pt idx="2">
                  <c:v>148.5</c:v>
                </c:pt>
                <c:pt idx="3">
                  <c:v>63.36</c:v>
                </c:pt>
                <c:pt idx="4">
                  <c:v>75.239999999999995</c:v>
                </c:pt>
                <c:pt idx="5">
                  <c:v>92.07</c:v>
                </c:pt>
                <c:pt idx="6">
                  <c:v>85.14</c:v>
                </c:pt>
                <c:pt idx="7">
                  <c:v>104.94</c:v>
                </c:pt>
                <c:pt idx="8">
                  <c:v>56.43</c:v>
                </c:pt>
                <c:pt idx="9">
                  <c:v>78.209999999999994</c:v>
                </c:pt>
                <c:pt idx="10">
                  <c:v>42.57</c:v>
                </c:pt>
                <c:pt idx="11">
                  <c:v>98.01</c:v>
                </c:pt>
              </c:numCache>
            </c:numRef>
          </c:val>
          <c:smooth val="0"/>
          <c:extLst>
            <c:ext xmlns:c16="http://schemas.microsoft.com/office/drawing/2014/chart" uri="{C3380CC4-5D6E-409C-BE32-E72D297353CC}">
              <c16:uniqueId val="{00000001-286F-42D8-A878-AE9DADD5F66E}"/>
            </c:ext>
          </c:extLst>
        </c:ser>
        <c:ser>
          <c:idx val="2"/>
          <c:order val="2"/>
          <c:tx>
            <c:strRef>
              <c:f>Objective!$AB$70:$AB$71</c:f>
              <c:strCache>
                <c:ptCount val="1"/>
                <c:pt idx="0">
                  <c:v>2019</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Objective!$Y$72:$Y$83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Objective!$AB$72:$AB$83</c:f>
              <c:numCache>
                <c:formatCode>General</c:formatCode>
                <c:ptCount val="12"/>
                <c:pt idx="0">
                  <c:v>85.14</c:v>
                </c:pt>
                <c:pt idx="1">
                  <c:v>59.4</c:v>
                </c:pt>
                <c:pt idx="2">
                  <c:v>125.73</c:v>
                </c:pt>
                <c:pt idx="3">
                  <c:v>115.83</c:v>
                </c:pt>
                <c:pt idx="4">
                  <c:v>104.94</c:v>
                </c:pt>
                <c:pt idx="5">
                  <c:v>92.07</c:v>
                </c:pt>
                <c:pt idx="6">
                  <c:v>124.74</c:v>
                </c:pt>
                <c:pt idx="7">
                  <c:v>158.4</c:v>
                </c:pt>
                <c:pt idx="8">
                  <c:v>124.74</c:v>
                </c:pt>
                <c:pt idx="9">
                  <c:v>43.56</c:v>
                </c:pt>
                <c:pt idx="10">
                  <c:v>71.28</c:v>
                </c:pt>
                <c:pt idx="11">
                  <c:v>110.88</c:v>
                </c:pt>
              </c:numCache>
            </c:numRef>
          </c:val>
          <c:smooth val="0"/>
          <c:extLst>
            <c:ext xmlns:c16="http://schemas.microsoft.com/office/drawing/2014/chart" uri="{C3380CC4-5D6E-409C-BE32-E72D297353CC}">
              <c16:uniqueId val="{00000002-286F-42D8-A878-AE9DADD5F66E}"/>
            </c:ext>
          </c:extLst>
        </c:ser>
        <c:ser>
          <c:idx val="3"/>
          <c:order val="3"/>
          <c:tx>
            <c:strRef>
              <c:f>Objective!$AC$70:$AC$71</c:f>
              <c:strCache>
                <c:ptCount val="1"/>
                <c:pt idx="0">
                  <c:v>2020</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Objective!$Y$72:$Y$83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Objective!$AC$72:$AC$83</c:f>
              <c:numCache>
                <c:formatCode>General</c:formatCode>
                <c:ptCount val="12"/>
                <c:pt idx="0">
                  <c:v>43.56</c:v>
                </c:pt>
                <c:pt idx="1">
                  <c:v>97.02</c:v>
                </c:pt>
                <c:pt idx="2">
                  <c:v>78.209999999999994</c:v>
                </c:pt>
                <c:pt idx="3">
                  <c:v>119.79</c:v>
                </c:pt>
                <c:pt idx="4">
                  <c:v>81.180000000000007</c:v>
                </c:pt>
                <c:pt idx="5">
                  <c:v>120.78</c:v>
                </c:pt>
                <c:pt idx="6">
                  <c:v>76.23</c:v>
                </c:pt>
                <c:pt idx="7">
                  <c:v>72.27</c:v>
                </c:pt>
                <c:pt idx="8">
                  <c:v>95.04</c:v>
                </c:pt>
                <c:pt idx="9">
                  <c:v>144.54</c:v>
                </c:pt>
                <c:pt idx="10">
                  <c:v>82.17</c:v>
                </c:pt>
                <c:pt idx="11">
                  <c:v>125.73</c:v>
                </c:pt>
              </c:numCache>
            </c:numRef>
          </c:val>
          <c:smooth val="0"/>
          <c:extLst>
            <c:ext xmlns:c16="http://schemas.microsoft.com/office/drawing/2014/chart" uri="{C3380CC4-5D6E-409C-BE32-E72D297353CC}">
              <c16:uniqueId val="{00000003-286F-42D8-A878-AE9DADD5F66E}"/>
            </c:ext>
          </c:extLst>
        </c:ser>
        <c:dLbls>
          <c:showLegendKey val="0"/>
          <c:showVal val="0"/>
          <c:showCatName val="0"/>
          <c:showSerName val="0"/>
          <c:showPercent val="0"/>
          <c:showBubbleSize val="0"/>
        </c:dLbls>
        <c:marker val="1"/>
        <c:smooth val="0"/>
        <c:axId val="782935520"/>
        <c:axId val="782923040"/>
      </c:lineChart>
      <c:catAx>
        <c:axId val="782935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82923040"/>
        <c:crosses val="autoZero"/>
        <c:auto val="1"/>
        <c:lblAlgn val="ctr"/>
        <c:lblOffset val="100"/>
        <c:noMultiLvlLbl val="0"/>
      </c:catAx>
      <c:valAx>
        <c:axId val="782923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7829355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IN"/>
              <a:t>Genre pairs_count</a:t>
            </a:r>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barChart>
        <c:barDir val="col"/>
        <c:grouping val="clustered"/>
        <c:varyColors val="0"/>
        <c:ser>
          <c:idx val="0"/>
          <c:order val="0"/>
          <c:tx>
            <c:strRef>
              <c:f>Subjective!$T$12</c:f>
              <c:strCache>
                <c:ptCount val="1"/>
                <c:pt idx="0">
                  <c:v>pairs_count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Subjective!$R$13:$S$17</c:f>
              <c:multiLvlStrCache>
                <c:ptCount val="5"/>
                <c:lvl>
                  <c:pt idx="0">
                    <c:v>Metal</c:v>
                  </c:pt>
                  <c:pt idx="1">
                    <c:v>Alternative &amp; Punk</c:v>
                  </c:pt>
                  <c:pt idx="2">
                    <c:v>Alternative &amp; Punk</c:v>
                  </c:pt>
                  <c:pt idx="3">
                    <c:v>Latin</c:v>
                  </c:pt>
                  <c:pt idx="4">
                    <c:v>R&amp;B/Soul</c:v>
                  </c:pt>
                </c:lvl>
                <c:lvl>
                  <c:pt idx="0">
                    <c:v>Rock</c:v>
                  </c:pt>
                  <c:pt idx="1">
                    <c:v>Rock</c:v>
                  </c:pt>
                  <c:pt idx="2">
                    <c:v>Metal</c:v>
                  </c:pt>
                  <c:pt idx="3">
                    <c:v>Rock</c:v>
                  </c:pt>
                  <c:pt idx="4">
                    <c:v>Rock</c:v>
                  </c:pt>
                </c:lvl>
              </c:multiLvlStrCache>
            </c:multiLvlStrRef>
          </c:cat>
          <c:val>
            <c:numRef>
              <c:f>Subjective!$T$13:$T$17</c:f>
              <c:numCache>
                <c:formatCode>General</c:formatCode>
                <c:ptCount val="5"/>
                <c:pt idx="0">
                  <c:v>268</c:v>
                </c:pt>
                <c:pt idx="1">
                  <c:v>202</c:v>
                </c:pt>
                <c:pt idx="2">
                  <c:v>144</c:v>
                </c:pt>
                <c:pt idx="3">
                  <c:v>104</c:v>
                </c:pt>
                <c:pt idx="4">
                  <c:v>90</c:v>
                </c:pt>
              </c:numCache>
            </c:numRef>
          </c:val>
          <c:extLst>
            <c:ext xmlns:c16="http://schemas.microsoft.com/office/drawing/2014/chart" uri="{C3380CC4-5D6E-409C-BE32-E72D297353CC}">
              <c16:uniqueId val="{00000000-6AD9-4522-AFB4-F5983DAE7FE7}"/>
            </c:ext>
          </c:extLst>
        </c:ser>
        <c:dLbls>
          <c:dLblPos val="outEnd"/>
          <c:showLegendKey val="0"/>
          <c:showVal val="1"/>
          <c:showCatName val="0"/>
          <c:showSerName val="0"/>
          <c:showPercent val="0"/>
          <c:showBubbleSize val="0"/>
        </c:dLbls>
        <c:gapWidth val="219"/>
        <c:overlap val="-27"/>
        <c:axId val="864055600"/>
        <c:axId val="864056080"/>
      </c:barChart>
      <c:catAx>
        <c:axId val="86405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64056080"/>
        <c:crosses val="autoZero"/>
        <c:auto val="1"/>
        <c:lblAlgn val="ctr"/>
        <c:lblOffset val="100"/>
        <c:noMultiLvlLbl val="0"/>
      </c:catAx>
      <c:valAx>
        <c:axId val="864056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64055600"/>
        <c:crosses val="autoZero"/>
        <c:crossBetween val="between"/>
      </c:valAx>
      <c:spPr>
        <a:noFill/>
        <a:ln>
          <a:noFill/>
        </a:ln>
        <a:effectLst/>
      </c:spPr>
    </c:plotArea>
    <c:plotVisOnly val="1"/>
    <c:dispBlanksAs val="gap"/>
    <c:showDLblsOverMax val="0"/>
  </c:chart>
  <c:spPr>
    <a:noFill/>
    <a:ln>
      <a:noFill/>
    </a:ln>
    <a:effectLst/>
  </c:spPr>
  <c:txPr>
    <a:bodyPr/>
    <a:lstStyle/>
    <a:p>
      <a:pPr>
        <a:defRPr sz="1400" b="1">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Artist pairs_count</a:t>
            </a:r>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barChart>
        <c:barDir val="col"/>
        <c:grouping val="clustered"/>
        <c:varyColors val="0"/>
        <c:ser>
          <c:idx val="0"/>
          <c:order val="0"/>
          <c:tx>
            <c:strRef>
              <c:f>Subjective!$T$21</c:f>
              <c:strCache>
                <c:ptCount val="1"/>
                <c:pt idx="0">
                  <c:v>pairs_count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Subjective!$R$22:$S$26</c:f>
              <c:multiLvlStrCache>
                <c:ptCount val="5"/>
                <c:lvl>
                  <c:pt idx="0">
                    <c:v>Green Day</c:v>
                  </c:pt>
                  <c:pt idx="1">
                    <c:v>Foo Fighters</c:v>
                  </c:pt>
                  <c:pt idx="2">
                    <c:v>Nirvana</c:v>
                  </c:pt>
                  <c:pt idx="3">
                    <c:v>U2</c:v>
                  </c:pt>
                  <c:pt idx="4">
                    <c:v>Green Day</c:v>
                  </c:pt>
                </c:lvl>
                <c:lvl>
                  <c:pt idx="0">
                    <c:v>Led Zeppelin</c:v>
                  </c:pt>
                  <c:pt idx="1">
                    <c:v>Green Day</c:v>
                  </c:pt>
                  <c:pt idx="2">
                    <c:v>Eric Clapton</c:v>
                  </c:pt>
                  <c:pt idx="3">
                    <c:v>Queen</c:v>
                  </c:pt>
                  <c:pt idx="4">
                    <c:v>Queen</c:v>
                  </c:pt>
                </c:lvl>
              </c:multiLvlStrCache>
            </c:multiLvlStrRef>
          </c:cat>
          <c:val>
            <c:numRef>
              <c:f>Subjective!$T$22:$T$26</c:f>
              <c:numCache>
                <c:formatCode>General</c:formatCode>
                <c:ptCount val="5"/>
                <c:pt idx="0">
                  <c:v>19</c:v>
                </c:pt>
                <c:pt idx="1">
                  <c:v>18</c:v>
                </c:pt>
                <c:pt idx="2">
                  <c:v>16</c:v>
                </c:pt>
                <c:pt idx="3">
                  <c:v>16</c:v>
                </c:pt>
                <c:pt idx="4">
                  <c:v>15</c:v>
                </c:pt>
              </c:numCache>
            </c:numRef>
          </c:val>
          <c:extLst>
            <c:ext xmlns:c16="http://schemas.microsoft.com/office/drawing/2014/chart" uri="{C3380CC4-5D6E-409C-BE32-E72D297353CC}">
              <c16:uniqueId val="{00000000-D25A-4418-81E1-D1A4A815516D}"/>
            </c:ext>
          </c:extLst>
        </c:ser>
        <c:dLbls>
          <c:dLblPos val="outEnd"/>
          <c:showLegendKey val="0"/>
          <c:showVal val="1"/>
          <c:showCatName val="0"/>
          <c:showSerName val="0"/>
          <c:showPercent val="0"/>
          <c:showBubbleSize val="0"/>
        </c:dLbls>
        <c:gapWidth val="219"/>
        <c:overlap val="-27"/>
        <c:axId val="433713056"/>
        <c:axId val="433724576"/>
      </c:barChart>
      <c:catAx>
        <c:axId val="433713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433724576"/>
        <c:crosses val="autoZero"/>
        <c:auto val="1"/>
        <c:lblAlgn val="ctr"/>
        <c:lblOffset val="100"/>
        <c:noMultiLvlLbl val="0"/>
      </c:catAx>
      <c:valAx>
        <c:axId val="4337245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4337130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a:t>Albums pairs_count</a:t>
            </a:r>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barChart>
        <c:barDir val="col"/>
        <c:grouping val="clustered"/>
        <c:varyColors val="0"/>
        <c:ser>
          <c:idx val="0"/>
          <c:order val="0"/>
          <c:tx>
            <c:strRef>
              <c:f>Subjective!$T$3</c:f>
              <c:strCache>
                <c:ptCount val="1"/>
                <c:pt idx="0">
                  <c:v>pairs_count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Subjective!$R$4:$S$8</c:f>
              <c:multiLvlStrCache>
                <c:ptCount val="5"/>
                <c:lvl>
                  <c:pt idx="0">
                    <c:v>Mezmerize</c:v>
                  </c:pt>
                  <c:pt idx="1">
                    <c:v>Mezmerize</c:v>
                  </c:pt>
                  <c:pt idx="2">
                    <c:v>The Police Greatest Hits</c:v>
                  </c:pt>
                  <c:pt idx="3">
                    <c:v>My Generation - The Very Best Of The Who</c:v>
                  </c:pt>
                  <c:pt idx="4">
                    <c:v>The Singles</c:v>
                  </c:pt>
                </c:lvl>
                <c:lvl>
                  <c:pt idx="0">
                    <c:v>Are You Experienced?</c:v>
                  </c:pt>
                  <c:pt idx="1">
                    <c:v>Vault: Def Leppard's Greatest Hits</c:v>
                  </c:pt>
                  <c:pt idx="2">
                    <c:v>My Way: The Best Of Frank Sinatra [Disc 1]</c:v>
                  </c:pt>
                  <c:pt idx="3">
                    <c:v>Mezmerize</c:v>
                  </c:pt>
                  <c:pt idx="4">
                    <c:v>Dark Side Of The Moon</c:v>
                  </c:pt>
                </c:lvl>
              </c:multiLvlStrCache>
            </c:multiLvlStrRef>
          </c:cat>
          <c:val>
            <c:numRef>
              <c:f>Subjective!$T$4:$T$8</c:f>
              <c:numCache>
                <c:formatCode>General</c:formatCode>
                <c:ptCount val="5"/>
                <c:pt idx="0">
                  <c:v>14</c:v>
                </c:pt>
                <c:pt idx="1">
                  <c:v>11</c:v>
                </c:pt>
                <c:pt idx="2">
                  <c:v>10</c:v>
                </c:pt>
                <c:pt idx="3">
                  <c:v>10</c:v>
                </c:pt>
                <c:pt idx="4">
                  <c:v>10</c:v>
                </c:pt>
              </c:numCache>
            </c:numRef>
          </c:val>
          <c:extLst>
            <c:ext xmlns:c16="http://schemas.microsoft.com/office/drawing/2014/chart" uri="{C3380CC4-5D6E-409C-BE32-E72D297353CC}">
              <c16:uniqueId val="{00000000-0658-46B6-8716-8ECBD1AB3FCF}"/>
            </c:ext>
          </c:extLst>
        </c:ser>
        <c:dLbls>
          <c:dLblPos val="outEnd"/>
          <c:showLegendKey val="0"/>
          <c:showVal val="1"/>
          <c:showCatName val="0"/>
          <c:showSerName val="0"/>
          <c:showPercent val="0"/>
          <c:showBubbleSize val="0"/>
        </c:dLbls>
        <c:gapWidth val="219"/>
        <c:overlap val="-27"/>
        <c:axId val="681925152"/>
        <c:axId val="681925632"/>
      </c:barChart>
      <c:catAx>
        <c:axId val="681925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81925632"/>
        <c:crosses val="autoZero"/>
        <c:auto val="1"/>
        <c:lblAlgn val="ctr"/>
        <c:lblOffset val="100"/>
        <c:noMultiLvlLbl val="0"/>
      </c:catAx>
      <c:valAx>
        <c:axId val="681925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81925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pieChart>
        <c:varyColors val="1"/>
        <c:ser>
          <c:idx val="0"/>
          <c:order val="0"/>
          <c:tx>
            <c:strRef>
              <c:f>Objective!$AI$2</c:f>
              <c:strCache>
                <c:ptCount val="1"/>
                <c:pt idx="0">
                  <c:v>churn_rate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BEB-4CBC-B9D7-BFE9FA51BFB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BEB-4CBC-B9D7-BFE9FA51BFB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BEB-4CBC-B9D7-BFE9FA51BFB9}"/>
              </c:ext>
            </c:extLst>
          </c:dPt>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Objective!$AH$3:$AH$5</c:f>
              <c:numCache>
                <c:formatCode>General</c:formatCode>
                <c:ptCount val="3"/>
                <c:pt idx="0">
                  <c:v>2018</c:v>
                </c:pt>
                <c:pt idx="1">
                  <c:v>2019</c:v>
                </c:pt>
                <c:pt idx="2">
                  <c:v>2020</c:v>
                </c:pt>
              </c:numCache>
            </c:numRef>
          </c:cat>
          <c:val>
            <c:numRef>
              <c:f>Objective!$AI$3:$AI$5</c:f>
              <c:numCache>
                <c:formatCode>General</c:formatCode>
                <c:ptCount val="3"/>
                <c:pt idx="0">
                  <c:v>19.3</c:v>
                </c:pt>
                <c:pt idx="1">
                  <c:v>22.92</c:v>
                </c:pt>
                <c:pt idx="2">
                  <c:v>16.22</c:v>
                </c:pt>
              </c:numCache>
            </c:numRef>
          </c:val>
          <c:extLst>
            <c:ext xmlns:c16="http://schemas.microsoft.com/office/drawing/2014/chart" uri="{C3380CC4-5D6E-409C-BE32-E72D297353CC}">
              <c16:uniqueId val="{00000006-1BEB-4CBC-B9D7-BFE9FA51BFB9}"/>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noFill/>
    <a:ln>
      <a:noFill/>
    </a:ln>
    <a:effectLst/>
  </c:spPr>
  <c:txPr>
    <a:bodyPr/>
    <a:lstStyle/>
    <a:p>
      <a:pPr>
        <a:defRPr sz="14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[Module_2 result.xlsx]Subjective!PivotTable64</c:name>
    <c:fmtId val="-1"/>
  </c:pivotSource>
  <c:chart>
    <c:title>
      <c:tx>
        <c:rich>
          <a:bodyPr rot="0" spcFirstLastPara="1" vertOverflow="ellipsis" vert="horz" wrap="square" anchor="ctr" anchorCtr="1"/>
          <a:lstStyle/>
          <a:p>
            <a:pPr>
              <a:defRPr sz="144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a:t>Churn rate per country</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Subjective!$Y$46:$Y$47</c:f>
              <c:strCache>
                <c:ptCount val="1"/>
                <c:pt idx="0">
                  <c:v>2018</c:v>
                </c:pt>
              </c:strCache>
            </c:strRef>
          </c:tx>
          <c:spPr>
            <a:solidFill>
              <a:schemeClr val="accent1"/>
            </a:solidFill>
            <a:ln>
              <a:noFill/>
            </a:ln>
            <a:effectLst/>
          </c:spPr>
          <c:invertIfNegative val="0"/>
          <c:cat>
            <c:strRef>
              <c:f>Subjective!$X$48:$X$71</c:f>
              <c:strCache>
                <c:ptCount val="24"/>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pt idx="23">
                  <c:v>USA</c:v>
                </c:pt>
              </c:strCache>
            </c:strRef>
          </c:cat>
          <c:val>
            <c:numRef>
              <c:f>Subjective!$Y$48:$Y$71</c:f>
              <c:numCache>
                <c:formatCode>General</c:formatCode>
                <c:ptCount val="24"/>
                <c:pt idx="1">
                  <c:v>100</c:v>
                </c:pt>
                <c:pt idx="2">
                  <c:v>0</c:v>
                </c:pt>
                <c:pt idx="3">
                  <c:v>0</c:v>
                </c:pt>
                <c:pt idx="4">
                  <c:v>0</c:v>
                </c:pt>
                <c:pt idx="5">
                  <c:v>50</c:v>
                </c:pt>
                <c:pt idx="6">
                  <c:v>0</c:v>
                </c:pt>
                <c:pt idx="7">
                  <c:v>0</c:v>
                </c:pt>
                <c:pt idx="8">
                  <c:v>0</c:v>
                </c:pt>
                <c:pt idx="9">
                  <c:v>0</c:v>
                </c:pt>
                <c:pt idx="10">
                  <c:v>50</c:v>
                </c:pt>
                <c:pt idx="11">
                  <c:v>0</c:v>
                </c:pt>
                <c:pt idx="12">
                  <c:v>0</c:v>
                </c:pt>
                <c:pt idx="13">
                  <c:v>0</c:v>
                </c:pt>
                <c:pt idx="14">
                  <c:v>0</c:v>
                </c:pt>
                <c:pt idx="15">
                  <c:v>0</c:v>
                </c:pt>
                <c:pt idx="16">
                  <c:v>0</c:v>
                </c:pt>
                <c:pt idx="17">
                  <c:v>0</c:v>
                </c:pt>
                <c:pt idx="18">
                  <c:v>0</c:v>
                </c:pt>
                <c:pt idx="19">
                  <c:v>0</c:v>
                </c:pt>
                <c:pt idx="20">
                  <c:v>100</c:v>
                </c:pt>
                <c:pt idx="21">
                  <c:v>0</c:v>
                </c:pt>
                <c:pt idx="22">
                  <c:v>33.33</c:v>
                </c:pt>
                <c:pt idx="23">
                  <c:v>15.38</c:v>
                </c:pt>
              </c:numCache>
            </c:numRef>
          </c:val>
          <c:extLst>
            <c:ext xmlns:c16="http://schemas.microsoft.com/office/drawing/2014/chart" uri="{C3380CC4-5D6E-409C-BE32-E72D297353CC}">
              <c16:uniqueId val="{00000000-2F8C-4E38-97E4-C9A80027616E}"/>
            </c:ext>
          </c:extLst>
        </c:ser>
        <c:ser>
          <c:idx val="1"/>
          <c:order val="1"/>
          <c:tx>
            <c:strRef>
              <c:f>Subjective!$Z$46:$Z$47</c:f>
              <c:strCache>
                <c:ptCount val="1"/>
                <c:pt idx="0">
                  <c:v>2019</c:v>
                </c:pt>
              </c:strCache>
            </c:strRef>
          </c:tx>
          <c:spPr>
            <a:solidFill>
              <a:schemeClr val="accent2"/>
            </a:solidFill>
            <a:ln>
              <a:noFill/>
            </a:ln>
            <a:effectLst/>
          </c:spPr>
          <c:invertIfNegative val="0"/>
          <c:cat>
            <c:strRef>
              <c:f>Subjective!$X$48:$X$71</c:f>
              <c:strCache>
                <c:ptCount val="24"/>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pt idx="23">
                  <c:v>USA</c:v>
                </c:pt>
              </c:strCache>
            </c:strRef>
          </c:cat>
          <c:val>
            <c:numRef>
              <c:f>Subjective!$Z$48:$Z$71</c:f>
              <c:numCache>
                <c:formatCode>General</c:formatCode>
                <c:ptCount val="24"/>
                <c:pt idx="0">
                  <c:v>0</c:v>
                </c:pt>
                <c:pt idx="2">
                  <c:v>0</c:v>
                </c:pt>
                <c:pt idx="3">
                  <c:v>0</c:v>
                </c:pt>
                <c:pt idx="4">
                  <c:v>0</c:v>
                </c:pt>
                <c:pt idx="5">
                  <c:v>25</c:v>
                </c:pt>
                <c:pt idx="6">
                  <c:v>0</c:v>
                </c:pt>
                <c:pt idx="7">
                  <c:v>0</c:v>
                </c:pt>
                <c:pt idx="8">
                  <c:v>0</c:v>
                </c:pt>
                <c:pt idx="9">
                  <c:v>0</c:v>
                </c:pt>
                <c:pt idx="10">
                  <c:v>66.67</c:v>
                </c:pt>
                <c:pt idx="11">
                  <c:v>0</c:v>
                </c:pt>
                <c:pt idx="12">
                  <c:v>0</c:v>
                </c:pt>
                <c:pt idx="13">
                  <c:v>50</c:v>
                </c:pt>
                <c:pt idx="14">
                  <c:v>100</c:v>
                </c:pt>
                <c:pt idx="15">
                  <c:v>0</c:v>
                </c:pt>
                <c:pt idx="16">
                  <c:v>0</c:v>
                </c:pt>
                <c:pt idx="17">
                  <c:v>100</c:v>
                </c:pt>
                <c:pt idx="18">
                  <c:v>0</c:v>
                </c:pt>
                <c:pt idx="19">
                  <c:v>0</c:v>
                </c:pt>
                <c:pt idx="21">
                  <c:v>100</c:v>
                </c:pt>
                <c:pt idx="22">
                  <c:v>50</c:v>
                </c:pt>
                <c:pt idx="23">
                  <c:v>27.27</c:v>
                </c:pt>
              </c:numCache>
            </c:numRef>
          </c:val>
          <c:extLst>
            <c:ext xmlns:c16="http://schemas.microsoft.com/office/drawing/2014/chart" uri="{C3380CC4-5D6E-409C-BE32-E72D297353CC}">
              <c16:uniqueId val="{00000001-2F8C-4E38-97E4-C9A80027616E}"/>
            </c:ext>
          </c:extLst>
        </c:ser>
        <c:ser>
          <c:idx val="2"/>
          <c:order val="2"/>
          <c:tx>
            <c:strRef>
              <c:f>Subjective!$AA$46:$AA$47</c:f>
              <c:strCache>
                <c:ptCount val="1"/>
                <c:pt idx="0">
                  <c:v>2020</c:v>
                </c:pt>
              </c:strCache>
            </c:strRef>
          </c:tx>
          <c:spPr>
            <a:solidFill>
              <a:schemeClr val="accent3"/>
            </a:solidFill>
            <a:ln>
              <a:noFill/>
            </a:ln>
            <a:effectLst/>
          </c:spPr>
          <c:invertIfNegative val="0"/>
          <c:cat>
            <c:strRef>
              <c:f>Subjective!$X$48:$X$71</c:f>
              <c:strCache>
                <c:ptCount val="24"/>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pt idx="23">
                  <c:v>USA</c:v>
                </c:pt>
              </c:strCache>
            </c:strRef>
          </c:cat>
          <c:val>
            <c:numRef>
              <c:f>Subjective!$AA$48:$AA$71</c:f>
              <c:numCache>
                <c:formatCode>General</c:formatCode>
                <c:ptCount val="24"/>
                <c:pt idx="0">
                  <c:v>100</c:v>
                </c:pt>
                <c:pt idx="2">
                  <c:v>0</c:v>
                </c:pt>
                <c:pt idx="3">
                  <c:v>100</c:v>
                </c:pt>
                <c:pt idx="4">
                  <c:v>0</c:v>
                </c:pt>
                <c:pt idx="5">
                  <c:v>0</c:v>
                </c:pt>
                <c:pt idx="6">
                  <c:v>0</c:v>
                </c:pt>
                <c:pt idx="7">
                  <c:v>0</c:v>
                </c:pt>
                <c:pt idx="8">
                  <c:v>0</c:v>
                </c:pt>
                <c:pt idx="9">
                  <c:v>0</c:v>
                </c:pt>
                <c:pt idx="10">
                  <c:v>0</c:v>
                </c:pt>
                <c:pt idx="11">
                  <c:v>25</c:v>
                </c:pt>
                <c:pt idx="12">
                  <c:v>100</c:v>
                </c:pt>
                <c:pt idx="13">
                  <c:v>0</c:v>
                </c:pt>
                <c:pt idx="15">
                  <c:v>0</c:v>
                </c:pt>
                <c:pt idx="16">
                  <c:v>0</c:v>
                </c:pt>
                <c:pt idx="18">
                  <c:v>0</c:v>
                </c:pt>
                <c:pt idx="19">
                  <c:v>0</c:v>
                </c:pt>
                <c:pt idx="22">
                  <c:v>0</c:v>
                </c:pt>
                <c:pt idx="23">
                  <c:v>25</c:v>
                </c:pt>
              </c:numCache>
            </c:numRef>
          </c:val>
          <c:extLst>
            <c:ext xmlns:c16="http://schemas.microsoft.com/office/drawing/2014/chart" uri="{C3380CC4-5D6E-409C-BE32-E72D297353CC}">
              <c16:uniqueId val="{00000002-2F8C-4E38-97E4-C9A80027616E}"/>
            </c:ext>
          </c:extLst>
        </c:ser>
        <c:dLbls>
          <c:showLegendKey val="0"/>
          <c:showVal val="0"/>
          <c:showCatName val="0"/>
          <c:showSerName val="0"/>
          <c:showPercent val="0"/>
          <c:showBubbleSize val="0"/>
        </c:dLbls>
        <c:gapWidth val="219"/>
        <c:overlap val="-27"/>
        <c:axId val="874479072"/>
        <c:axId val="874480512"/>
      </c:barChart>
      <c:catAx>
        <c:axId val="874479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74480512"/>
        <c:crosses val="autoZero"/>
        <c:auto val="1"/>
        <c:lblAlgn val="ctr"/>
        <c:lblOffset val="100"/>
        <c:noMultiLvlLbl val="0"/>
      </c:catAx>
      <c:valAx>
        <c:axId val="874480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7447907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[Module_2 result.xlsx]Subjective!PivotTable33</c:name>
    <c:fmtId val="18"/>
  </c:pivotSource>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en-IN" sz="1800"/>
              <a:t>Purchasing behavior b/w new and old customers</a:t>
            </a:r>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Subjective!$C$65</c:f>
              <c:strCache>
                <c:ptCount val="1"/>
                <c:pt idx="0">
                  <c:v>Avg_freq</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Subjective!$B$66:$B$67</c:f>
              <c:strCache>
                <c:ptCount val="2"/>
                <c:pt idx="0">
                  <c:v>new</c:v>
                </c:pt>
                <c:pt idx="1">
                  <c:v>old</c:v>
                </c:pt>
              </c:strCache>
            </c:strRef>
          </c:cat>
          <c:val>
            <c:numRef>
              <c:f>Subjective!$C$66:$C$67</c:f>
              <c:numCache>
                <c:formatCode>0.0000</c:formatCode>
                <c:ptCount val="2"/>
                <c:pt idx="0">
                  <c:v>0.51019322033898307</c:v>
                </c:pt>
                <c:pt idx="1">
                  <c:v>0.29195423728813552</c:v>
                </c:pt>
              </c:numCache>
            </c:numRef>
          </c:val>
          <c:extLst>
            <c:ext xmlns:c16="http://schemas.microsoft.com/office/drawing/2014/chart" uri="{C3380CC4-5D6E-409C-BE32-E72D297353CC}">
              <c16:uniqueId val="{00000000-F0A1-42FE-897F-F13EF0FAFE45}"/>
            </c:ext>
          </c:extLst>
        </c:ser>
        <c:ser>
          <c:idx val="1"/>
          <c:order val="1"/>
          <c:tx>
            <c:strRef>
              <c:f>Subjective!$D$65</c:f>
              <c:strCache>
                <c:ptCount val="1"/>
                <c:pt idx="0">
                  <c:v>avg_size</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Subjective!$B$66:$B$67</c:f>
              <c:strCache>
                <c:ptCount val="2"/>
                <c:pt idx="0">
                  <c:v>new</c:v>
                </c:pt>
                <c:pt idx="1">
                  <c:v>old</c:v>
                </c:pt>
              </c:strCache>
            </c:strRef>
          </c:cat>
          <c:val>
            <c:numRef>
              <c:f>Subjective!$D$66:$D$67</c:f>
              <c:numCache>
                <c:formatCode>0.0000</c:formatCode>
                <c:ptCount val="2"/>
                <c:pt idx="0">
                  <c:v>7.9998305084745756</c:v>
                </c:pt>
                <c:pt idx="1">
                  <c:v>7.7654237288135608</c:v>
                </c:pt>
              </c:numCache>
            </c:numRef>
          </c:val>
          <c:extLst>
            <c:ext xmlns:c16="http://schemas.microsoft.com/office/drawing/2014/chart" uri="{C3380CC4-5D6E-409C-BE32-E72D297353CC}">
              <c16:uniqueId val="{00000001-F0A1-42FE-897F-F13EF0FAFE45}"/>
            </c:ext>
          </c:extLst>
        </c:ser>
        <c:ser>
          <c:idx val="2"/>
          <c:order val="2"/>
          <c:tx>
            <c:strRef>
              <c:f>Subjective!$E$65</c:f>
              <c:strCache>
                <c:ptCount val="1"/>
                <c:pt idx="0">
                  <c:v>avg_spend</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Subjective!$B$66:$B$67</c:f>
              <c:strCache>
                <c:ptCount val="2"/>
                <c:pt idx="0">
                  <c:v>new</c:v>
                </c:pt>
                <c:pt idx="1">
                  <c:v>old</c:v>
                </c:pt>
              </c:strCache>
            </c:strRef>
          </c:cat>
          <c:val>
            <c:numRef>
              <c:f>Subjective!$E$66:$E$67</c:f>
              <c:numCache>
                <c:formatCode>0.0000</c:formatCode>
                <c:ptCount val="2"/>
                <c:pt idx="0">
                  <c:v>7.9347457627118647</c:v>
                </c:pt>
                <c:pt idx="1">
                  <c:v>7.7089830508474568</c:v>
                </c:pt>
              </c:numCache>
            </c:numRef>
          </c:val>
          <c:extLst>
            <c:ext xmlns:c16="http://schemas.microsoft.com/office/drawing/2014/chart" uri="{C3380CC4-5D6E-409C-BE32-E72D297353CC}">
              <c16:uniqueId val="{00000002-F0A1-42FE-897F-F13EF0FAFE45}"/>
            </c:ext>
          </c:extLst>
        </c:ser>
        <c:dLbls>
          <c:dLblPos val="outEnd"/>
          <c:showLegendKey val="0"/>
          <c:showVal val="1"/>
          <c:showCatName val="0"/>
          <c:showSerName val="0"/>
          <c:showPercent val="0"/>
          <c:showBubbleSize val="0"/>
        </c:dLbls>
        <c:gapWidth val="219"/>
        <c:overlap val="-27"/>
        <c:axId val="864038800"/>
        <c:axId val="864049840"/>
      </c:barChart>
      <c:catAx>
        <c:axId val="864038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864049840"/>
        <c:crosses val="autoZero"/>
        <c:auto val="1"/>
        <c:lblAlgn val="ctr"/>
        <c:lblOffset val="100"/>
        <c:noMultiLvlLbl val="0"/>
      </c:catAx>
      <c:valAx>
        <c:axId val="8640498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8640388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a:t>Frequency and value segment</a:t>
            </a:r>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barChart>
        <c:barDir val="col"/>
        <c:grouping val="clustered"/>
        <c:varyColors val="0"/>
        <c:ser>
          <c:idx val="0"/>
          <c:order val="0"/>
          <c:tx>
            <c:strRef>
              <c:f>Subjective!$AM$3</c:f>
              <c:strCache>
                <c:ptCount val="1"/>
                <c:pt idx="0">
                  <c:v>total_customers</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Subjective!$AK$4:$AL$7</c:f>
              <c:multiLvlStrCache>
                <c:ptCount val="4"/>
                <c:lvl>
                  <c:pt idx="0">
                    <c:v>High Value</c:v>
                  </c:pt>
                  <c:pt idx="1">
                    <c:v>Low Value</c:v>
                  </c:pt>
                  <c:pt idx="2">
                    <c:v>High Value</c:v>
                  </c:pt>
                  <c:pt idx="3">
                    <c:v>Low Value</c:v>
                  </c:pt>
                </c:lvl>
                <c:lvl>
                  <c:pt idx="0">
                    <c:v>High Frequency</c:v>
                  </c:pt>
                  <c:pt idx="1">
                    <c:v>High Frequency</c:v>
                  </c:pt>
                  <c:pt idx="2">
                    <c:v>Low Frequency</c:v>
                  </c:pt>
                  <c:pt idx="3">
                    <c:v>Low Frequency</c:v>
                  </c:pt>
                </c:lvl>
              </c:multiLvlStrCache>
            </c:multiLvlStrRef>
          </c:cat>
          <c:val>
            <c:numRef>
              <c:f>Subjective!$AM$4:$AM$7</c:f>
              <c:numCache>
                <c:formatCode>General</c:formatCode>
                <c:ptCount val="4"/>
                <c:pt idx="0">
                  <c:v>10</c:v>
                </c:pt>
                <c:pt idx="1">
                  <c:v>18</c:v>
                </c:pt>
                <c:pt idx="2">
                  <c:v>21</c:v>
                </c:pt>
                <c:pt idx="3">
                  <c:v>10</c:v>
                </c:pt>
              </c:numCache>
            </c:numRef>
          </c:val>
          <c:extLst>
            <c:ext xmlns:c16="http://schemas.microsoft.com/office/drawing/2014/chart" uri="{C3380CC4-5D6E-409C-BE32-E72D297353CC}">
              <c16:uniqueId val="{00000000-3FDA-47DE-B82E-765E7915152A}"/>
            </c:ext>
          </c:extLst>
        </c:ser>
        <c:ser>
          <c:idx val="1"/>
          <c:order val="1"/>
          <c:tx>
            <c:strRef>
              <c:f>Subjective!$AN$3</c:f>
              <c:strCache>
                <c:ptCount val="1"/>
                <c:pt idx="0">
                  <c:v>churned_customers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Subjective!$AK$4:$AL$7</c:f>
              <c:multiLvlStrCache>
                <c:ptCount val="4"/>
                <c:lvl>
                  <c:pt idx="0">
                    <c:v>High Value</c:v>
                  </c:pt>
                  <c:pt idx="1">
                    <c:v>Low Value</c:v>
                  </c:pt>
                  <c:pt idx="2">
                    <c:v>High Value</c:v>
                  </c:pt>
                  <c:pt idx="3">
                    <c:v>Low Value</c:v>
                  </c:pt>
                </c:lvl>
                <c:lvl>
                  <c:pt idx="0">
                    <c:v>High Frequency</c:v>
                  </c:pt>
                  <c:pt idx="1">
                    <c:v>High Frequency</c:v>
                  </c:pt>
                  <c:pt idx="2">
                    <c:v>Low Frequency</c:v>
                  </c:pt>
                  <c:pt idx="3">
                    <c:v>Low Frequency</c:v>
                  </c:pt>
                </c:lvl>
              </c:multiLvlStrCache>
            </c:multiLvlStrRef>
          </c:cat>
          <c:val>
            <c:numRef>
              <c:f>Subjective!$AN$4:$AN$7</c:f>
              <c:numCache>
                <c:formatCode>General</c:formatCode>
                <c:ptCount val="4"/>
                <c:pt idx="0">
                  <c:v>4</c:v>
                </c:pt>
                <c:pt idx="1">
                  <c:v>5</c:v>
                </c:pt>
                <c:pt idx="2">
                  <c:v>16</c:v>
                </c:pt>
                <c:pt idx="3">
                  <c:v>3</c:v>
                </c:pt>
              </c:numCache>
            </c:numRef>
          </c:val>
          <c:extLst>
            <c:ext xmlns:c16="http://schemas.microsoft.com/office/drawing/2014/chart" uri="{C3380CC4-5D6E-409C-BE32-E72D297353CC}">
              <c16:uniqueId val="{00000001-3FDA-47DE-B82E-765E7915152A}"/>
            </c:ext>
          </c:extLst>
        </c:ser>
        <c:dLbls>
          <c:dLblPos val="outEnd"/>
          <c:showLegendKey val="0"/>
          <c:showVal val="1"/>
          <c:showCatName val="0"/>
          <c:showSerName val="0"/>
          <c:showPercent val="0"/>
          <c:showBubbleSize val="0"/>
        </c:dLbls>
        <c:gapWidth val="219"/>
        <c:overlap val="-27"/>
        <c:axId val="874491552"/>
        <c:axId val="874487232"/>
      </c:barChart>
      <c:catAx>
        <c:axId val="874491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74487232"/>
        <c:crosses val="autoZero"/>
        <c:auto val="1"/>
        <c:lblAlgn val="ctr"/>
        <c:lblOffset val="100"/>
        <c:noMultiLvlLbl val="0"/>
      </c:catAx>
      <c:valAx>
        <c:axId val="874487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8744915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b="1">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0" baseline="0">
                <a:solidFill>
                  <a:schemeClr val="tx1">
                    <a:lumMod val="65000"/>
                    <a:lumOff val="35000"/>
                  </a:schemeClr>
                </a:solidFill>
                <a:latin typeface="+mn-lt"/>
                <a:ea typeface="+mn-ea"/>
                <a:cs typeface="+mn-cs"/>
              </a:defRPr>
            </a:pPr>
            <a:r>
              <a:rPr lang="en-US" dirty="0"/>
              <a:t>AVG</a:t>
            </a:r>
            <a:r>
              <a:rPr lang="en-US" baseline="0" dirty="0"/>
              <a:t> CLV</a:t>
            </a:r>
            <a:endParaRPr lang="en-US" dirty="0"/>
          </a:p>
        </c:rich>
      </c:tx>
      <c:overlay val="0"/>
      <c:spPr>
        <a:noFill/>
        <a:ln>
          <a:noFill/>
        </a:ln>
        <a:effectLst/>
      </c:spPr>
      <c:txPr>
        <a:bodyPr rot="0" spcFirstLastPara="1" vertOverflow="ellipsis" vert="horz" wrap="square" anchor="ctr" anchorCtr="1"/>
        <a:lstStyle/>
        <a:p>
          <a:pPr>
            <a:defRPr sz="168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Subjective!$AR$36</c:f>
              <c:strCache>
                <c:ptCount val="1"/>
                <c:pt idx="0">
                  <c:v>avg_clv</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8FB4-448D-8ABD-CE52C73EC80B}"/>
              </c:ext>
            </c:extLst>
          </c:dPt>
          <c:dPt>
            <c:idx val="3"/>
            <c:invertIfNegative val="0"/>
            <c:bubble3D val="0"/>
            <c:spPr>
              <a:solidFill>
                <a:schemeClr val="accent2"/>
              </a:solidFill>
              <a:ln>
                <a:noFill/>
              </a:ln>
              <a:effectLst/>
            </c:spPr>
            <c:extLst>
              <c:ext xmlns:c16="http://schemas.microsoft.com/office/drawing/2014/chart" uri="{C3380CC4-5D6E-409C-BE32-E72D297353CC}">
                <c16:uniqueId val="{00000002-8FB4-448D-8ABD-CE52C73EC80B}"/>
              </c:ext>
            </c:extLst>
          </c:dPt>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Subjective!$AQ$37:$AQ$40</c:f>
              <c:strCache>
                <c:ptCount val="4"/>
                <c:pt idx="0">
                  <c:v>High Frequency</c:v>
                </c:pt>
                <c:pt idx="1">
                  <c:v>Low Frequency</c:v>
                </c:pt>
                <c:pt idx="2">
                  <c:v>active</c:v>
                </c:pt>
                <c:pt idx="3">
                  <c:v>churn</c:v>
                </c:pt>
              </c:strCache>
            </c:strRef>
          </c:cat>
          <c:val>
            <c:numRef>
              <c:f>Subjective!$AR$37:$AR$40</c:f>
              <c:numCache>
                <c:formatCode>0.00</c:formatCode>
                <c:ptCount val="4"/>
                <c:pt idx="0">
                  <c:v>85.14</c:v>
                </c:pt>
                <c:pt idx="1">
                  <c:v>75.016452000000001</c:v>
                </c:pt>
                <c:pt idx="2">
                  <c:v>83.287741999999994</c:v>
                </c:pt>
                <c:pt idx="3">
                  <c:v>75.982500000000002</c:v>
                </c:pt>
              </c:numCache>
            </c:numRef>
          </c:val>
          <c:extLst>
            <c:ext xmlns:c16="http://schemas.microsoft.com/office/drawing/2014/chart" uri="{C3380CC4-5D6E-409C-BE32-E72D297353CC}">
              <c16:uniqueId val="{00000000-8FB4-448D-8ABD-CE52C73EC80B}"/>
            </c:ext>
          </c:extLst>
        </c:ser>
        <c:dLbls>
          <c:dLblPos val="outEnd"/>
          <c:showLegendKey val="0"/>
          <c:showVal val="1"/>
          <c:showCatName val="0"/>
          <c:showSerName val="0"/>
          <c:showPercent val="0"/>
          <c:showBubbleSize val="0"/>
        </c:dLbls>
        <c:gapWidth val="219"/>
        <c:overlap val="-27"/>
        <c:axId val="694880847"/>
        <c:axId val="694899087"/>
      </c:barChart>
      <c:catAx>
        <c:axId val="694880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694899087"/>
        <c:crosses val="autoZero"/>
        <c:auto val="1"/>
        <c:lblAlgn val="ctr"/>
        <c:lblOffset val="100"/>
        <c:noMultiLvlLbl val="0"/>
      </c:catAx>
      <c:valAx>
        <c:axId val="69489908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6948808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b="1"/>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8BBA-9921-2E71-BF66-038CA95783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EFB4E2-179E-6C54-E8B0-100A73F0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85690C5-E567-67B5-509E-B300C3DED52D}"/>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5" name="Footer Placeholder 4">
            <a:extLst>
              <a:ext uri="{FF2B5EF4-FFF2-40B4-BE49-F238E27FC236}">
                <a16:creationId xmlns:a16="http://schemas.microsoft.com/office/drawing/2014/main" id="{351FDA31-FA76-6909-0CDD-B6E46E4A78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4CC1D7-0FE3-32D4-8DD5-FC4EC62EDF2F}"/>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3369305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2CF58-A3FC-9273-A005-DD2263FA9D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9C3B4F-865B-8802-95E6-1173C0F015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2F6865-A155-F684-997E-1305BF7E8BA9}"/>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5" name="Footer Placeholder 4">
            <a:extLst>
              <a:ext uri="{FF2B5EF4-FFF2-40B4-BE49-F238E27FC236}">
                <a16:creationId xmlns:a16="http://schemas.microsoft.com/office/drawing/2014/main" id="{D1573B84-C0FD-0DEF-6602-0CEBE93A50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1424E4-D2CD-1640-6883-8E0BB2521172}"/>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1260234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1374F-000D-ED1B-76B1-7FD0A42281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F26D71-7C98-E6BF-4FA4-5CD26D1627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2D8D6A-0305-A52F-2B49-03297AB1013B}"/>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5" name="Footer Placeholder 4">
            <a:extLst>
              <a:ext uri="{FF2B5EF4-FFF2-40B4-BE49-F238E27FC236}">
                <a16:creationId xmlns:a16="http://schemas.microsoft.com/office/drawing/2014/main" id="{F0B55B18-F266-1FA6-2221-3B6898D58E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1C3414-356E-1FBE-B53F-61EB2AD02ED2}"/>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2726263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5422-5391-6E51-8DF6-329BC7B14B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44A20A-F687-517D-FFEE-8556978EBB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CE37538-16FB-904A-A296-D46CE65659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1FFB13-F13D-8BEA-D0F7-CCC7A1724782}"/>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6" name="Footer Placeholder 5">
            <a:extLst>
              <a:ext uri="{FF2B5EF4-FFF2-40B4-BE49-F238E27FC236}">
                <a16:creationId xmlns:a16="http://schemas.microsoft.com/office/drawing/2014/main" id="{E6343789-337E-3CA6-3148-111B1A27A7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E63CE7-F522-9B41-FB8C-F66F025A65BA}"/>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1355257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07285-E71C-53D5-E04E-7A585BA7D2E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CD5095-89BF-2C27-48D6-BEBEB2D6FB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D7C888-7AB8-F951-45FE-FC12B81D90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67C91A-1EB9-4E21-6465-C6805296EE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77B9A9-1212-B2B5-F04E-57849FDB5D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09ED5F-1D27-9B65-8EF4-7B93D5341472}"/>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8" name="Footer Placeholder 7">
            <a:extLst>
              <a:ext uri="{FF2B5EF4-FFF2-40B4-BE49-F238E27FC236}">
                <a16:creationId xmlns:a16="http://schemas.microsoft.com/office/drawing/2014/main" id="{3EA12961-593A-BE0A-1591-CC812AB00D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5DEADCA-981B-CCFB-2FD1-C108B032D6DD}"/>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3237863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5C9FF-219E-0AA3-7FFA-A5FA2A94EF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C22E49-439B-6FA3-4986-D289BBA58C57}"/>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4" name="Footer Placeholder 3">
            <a:extLst>
              <a:ext uri="{FF2B5EF4-FFF2-40B4-BE49-F238E27FC236}">
                <a16:creationId xmlns:a16="http://schemas.microsoft.com/office/drawing/2014/main" id="{6058AB06-9407-E4F0-4015-130127E197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97369D2-D56A-2C53-DDAC-288E30CA5A25}"/>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4039713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445D42-1BEE-F92A-C7FF-A537E356DC12}"/>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3" name="Footer Placeholder 2">
            <a:extLst>
              <a:ext uri="{FF2B5EF4-FFF2-40B4-BE49-F238E27FC236}">
                <a16:creationId xmlns:a16="http://schemas.microsoft.com/office/drawing/2014/main" id="{E6ACE3BE-8A0A-6915-8A58-C275C4AEAB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A5A7EB4-601D-E4A5-DAF1-0140F31ACB89}"/>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3242219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AACC9-C488-7488-56BB-F4CF093E79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B742925-D5E4-E065-2CE4-6D545D7B06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1D970E-9554-3BA9-8455-4C55397BC7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658730-E0E6-D8EC-7531-7D5787CF84F7}"/>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6" name="Footer Placeholder 5">
            <a:extLst>
              <a:ext uri="{FF2B5EF4-FFF2-40B4-BE49-F238E27FC236}">
                <a16:creationId xmlns:a16="http://schemas.microsoft.com/office/drawing/2014/main" id="{4722457E-E857-2675-1E04-68C22780EB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02D058-2A6E-E8AD-BE23-8246FB9701B1}"/>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97406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BFC7-B2F1-C128-7136-70EE38775B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5831AD-E801-B696-017B-951B457D69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2051ABF-26FD-7BE0-43D7-96C9A87397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24F1F6-9171-ED84-2799-7DDD315FB0A9}"/>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6" name="Footer Placeholder 5">
            <a:extLst>
              <a:ext uri="{FF2B5EF4-FFF2-40B4-BE49-F238E27FC236}">
                <a16:creationId xmlns:a16="http://schemas.microsoft.com/office/drawing/2014/main" id="{AABECB0E-A30E-075F-377A-78A5837D54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62BABA-A11B-B06A-05B9-FB629D1208ED}"/>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609261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7D000-F69B-230A-04DE-A3ADFDB159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F8950E-C10E-13B5-52AC-F36D5B008A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BB0C85-7E29-8A64-1898-EF9270D1480B}"/>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5" name="Footer Placeholder 4">
            <a:extLst>
              <a:ext uri="{FF2B5EF4-FFF2-40B4-BE49-F238E27FC236}">
                <a16:creationId xmlns:a16="http://schemas.microsoft.com/office/drawing/2014/main" id="{03D7B242-9806-10E8-D3E7-F6510EF2C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358D0F-7C7C-E923-6189-E3ECFC3BD89D}"/>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3661446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A7AC52-8095-96E1-05E5-3385AB7229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5D6D80-5B15-69E0-AD1B-7FFA1AA2BE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75548A-A5A5-CDE0-3AAD-F424B229EA4D}"/>
              </a:ext>
            </a:extLst>
          </p:cNvPr>
          <p:cNvSpPr>
            <a:spLocks noGrp="1"/>
          </p:cNvSpPr>
          <p:nvPr>
            <p:ph type="dt" sz="half" idx="10"/>
          </p:nvPr>
        </p:nvSpPr>
        <p:spPr/>
        <p:txBody>
          <a:bodyPr/>
          <a:lstStyle/>
          <a:p>
            <a:fld id="{9A9ABC82-874F-41A7-BE8B-F957B691ED65}" type="datetimeFigureOut">
              <a:rPr lang="en-IN" smtClean="0"/>
              <a:t>28-01-2026</a:t>
            </a:fld>
            <a:endParaRPr lang="en-IN"/>
          </a:p>
        </p:txBody>
      </p:sp>
      <p:sp>
        <p:nvSpPr>
          <p:cNvPr id="5" name="Footer Placeholder 4">
            <a:extLst>
              <a:ext uri="{FF2B5EF4-FFF2-40B4-BE49-F238E27FC236}">
                <a16:creationId xmlns:a16="http://schemas.microsoft.com/office/drawing/2014/main" id="{2C1CFF19-380A-C2E0-F1EF-DBD42A6391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F5C5D5-65C5-B89A-7D72-4A144E7D1D4A}"/>
              </a:ext>
            </a:extLst>
          </p:cNvPr>
          <p:cNvSpPr>
            <a:spLocks noGrp="1"/>
          </p:cNvSpPr>
          <p:nvPr>
            <p:ph type="sldNum" sz="quarter" idx="12"/>
          </p:nvPr>
        </p:nvSpPr>
        <p:spPr/>
        <p:txBody>
          <a:bodyPr/>
          <a:lstStyle/>
          <a:p>
            <a:fld id="{D49DA785-647C-4B30-A729-B9FEE0151695}" type="slidenum">
              <a:rPr lang="en-IN" smtClean="0"/>
              <a:t>‹#›</a:t>
            </a:fld>
            <a:endParaRPr lang="en-IN"/>
          </a:p>
        </p:txBody>
      </p:sp>
    </p:spTree>
    <p:extLst>
      <p:ext uri="{BB962C8B-B14F-4D97-AF65-F5344CB8AC3E}">
        <p14:creationId xmlns:p14="http://schemas.microsoft.com/office/powerpoint/2010/main" val="1777190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AD083E-CAC0-7A0D-56BF-7FE1A44851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AC4BB3-B511-B196-986C-5ECBAA9FB4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940309-DD8C-0DF0-E88C-69327129C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9ABC82-874F-41A7-BE8B-F957B691ED65}" type="datetimeFigureOut">
              <a:rPr lang="en-IN" smtClean="0"/>
              <a:t>28-01-2026</a:t>
            </a:fld>
            <a:endParaRPr lang="en-IN"/>
          </a:p>
        </p:txBody>
      </p:sp>
      <p:sp>
        <p:nvSpPr>
          <p:cNvPr id="5" name="Footer Placeholder 4">
            <a:extLst>
              <a:ext uri="{FF2B5EF4-FFF2-40B4-BE49-F238E27FC236}">
                <a16:creationId xmlns:a16="http://schemas.microsoft.com/office/drawing/2014/main" id="{76D11BFC-F798-9893-B8CD-A2CF1A91A7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D403AD3-82B2-AFDF-35AC-BCE7903FA7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9DA785-647C-4B30-A729-B9FEE0151695}" type="slidenum">
              <a:rPr lang="en-IN" smtClean="0"/>
              <a:t>‹#›</a:t>
            </a:fld>
            <a:endParaRPr lang="en-IN"/>
          </a:p>
        </p:txBody>
      </p:sp>
    </p:spTree>
    <p:extLst>
      <p:ext uri="{BB962C8B-B14F-4D97-AF65-F5344CB8AC3E}">
        <p14:creationId xmlns:p14="http://schemas.microsoft.com/office/powerpoint/2010/main" val="673437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ile of vinyl records">
            <a:extLst>
              <a:ext uri="{FF2B5EF4-FFF2-40B4-BE49-F238E27FC236}">
                <a16:creationId xmlns:a16="http://schemas.microsoft.com/office/drawing/2014/main" id="{7DBB93BF-8ED1-6B4B-1125-52FFBEFB27E7}"/>
              </a:ext>
            </a:extLst>
          </p:cNvPr>
          <p:cNvPicPr>
            <a:picLocks noChangeAspect="1"/>
          </p:cNvPicPr>
          <p:nvPr/>
        </p:nvPicPr>
        <p:blipFill>
          <a:blip r:embed="rId2">
            <a:extLst>
              <a:ext uri="{28A0092B-C50C-407E-A947-70E740481C1C}">
                <a14:useLocalDpi xmlns:a14="http://schemas.microsoft.com/office/drawing/2010/main" val="0"/>
              </a:ext>
            </a:extLst>
          </a:blip>
          <a:srcRect r="5882" b="-1"/>
          <a:stretch>
            <a:fillRect/>
          </a:stretch>
        </p:blipFill>
        <p:spPr>
          <a:xfrm>
            <a:off x="2522358" y="10"/>
            <a:ext cx="9669642" cy="6857990"/>
          </a:xfrm>
          <a:prstGeom prst="rect">
            <a:avLst/>
          </a:prstGeom>
        </p:spPr>
      </p:pic>
      <p:sp>
        <p:nvSpPr>
          <p:cNvPr id="23" name="Rectangle 2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5A0EB2-F27A-4379-8374-B615A6C98C29}"/>
              </a:ext>
            </a:extLst>
          </p:cNvPr>
          <p:cNvSpPr>
            <a:spLocks noGrp="1"/>
          </p:cNvSpPr>
          <p:nvPr>
            <p:ph type="ctrTitle"/>
          </p:nvPr>
        </p:nvSpPr>
        <p:spPr>
          <a:xfrm>
            <a:off x="431121" y="743447"/>
            <a:ext cx="3973385" cy="3692028"/>
          </a:xfrm>
          <a:noFill/>
        </p:spPr>
        <p:txBody>
          <a:bodyPr>
            <a:normAutofit fontScale="90000"/>
          </a:bodyPr>
          <a:lstStyle/>
          <a:p>
            <a:pPr algn="l"/>
            <a:r>
              <a:rPr lang="en-US" sz="4400">
                <a:ln w="0"/>
                <a:effectLst>
                  <a:outerShdw blurRad="38100" dist="19050" dir="2700000" algn="tl" rotWithShape="0">
                    <a:schemeClr val="dk1">
                      <a:alpha val="40000"/>
                    </a:schemeClr>
                  </a:outerShdw>
                </a:effectLst>
              </a:rPr>
              <a:t>DATA-DRIVEN INSIGHTS FOR CHINOOK’S PHYSICAL MUSIC MARKET STRATEGY</a:t>
            </a:r>
            <a:endParaRPr lang="en-IN" sz="4400" dirty="0">
              <a:ln w="0"/>
              <a:effectLst>
                <a:outerShdw blurRad="38100" dist="19050" dir="2700000" algn="tl" rotWithShape="0">
                  <a:schemeClr val="dk1">
                    <a:alpha val="40000"/>
                  </a:schemeClr>
                </a:outerShdw>
              </a:effectLst>
            </a:endParaRPr>
          </a:p>
        </p:txBody>
      </p:sp>
      <p:sp>
        <p:nvSpPr>
          <p:cNvPr id="3" name="Subtitle 2">
            <a:extLst>
              <a:ext uri="{FF2B5EF4-FFF2-40B4-BE49-F238E27FC236}">
                <a16:creationId xmlns:a16="http://schemas.microsoft.com/office/drawing/2014/main" id="{C2100D6B-9A57-0077-1AA5-3BCA97692512}"/>
              </a:ext>
            </a:extLst>
          </p:cNvPr>
          <p:cNvSpPr>
            <a:spLocks noGrp="1"/>
          </p:cNvSpPr>
          <p:nvPr>
            <p:ph type="subTitle" idx="1"/>
          </p:nvPr>
        </p:nvSpPr>
        <p:spPr>
          <a:xfrm>
            <a:off x="431122" y="4629234"/>
            <a:ext cx="3973386" cy="1485319"/>
          </a:xfrm>
          <a:noFill/>
        </p:spPr>
        <p:txBody>
          <a:bodyPr>
            <a:normAutofit/>
          </a:bodyPr>
          <a:lstStyle/>
          <a:p>
            <a:pPr algn="l"/>
            <a:r>
              <a:rPr lang="en-US"/>
              <a:t>Rohan Gupta</a:t>
            </a:r>
          </a:p>
          <a:p>
            <a:pPr algn="l"/>
            <a:r>
              <a:rPr lang="en-US"/>
              <a:t>10th January 2026</a:t>
            </a:r>
            <a:endParaRPr lang="en-IN"/>
          </a:p>
          <a:p>
            <a:pPr algn="l"/>
            <a:endParaRPr lang="en-IN"/>
          </a:p>
        </p:txBody>
      </p:sp>
    </p:spTree>
    <p:extLst>
      <p:ext uri="{BB962C8B-B14F-4D97-AF65-F5344CB8AC3E}">
        <p14:creationId xmlns:p14="http://schemas.microsoft.com/office/powerpoint/2010/main" val="929180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BFB7B4-4E64-5D4F-910C-B0AE3E8F29BD}"/>
              </a:ext>
            </a:extLst>
          </p:cNvPr>
          <p:cNvSpPr>
            <a:spLocks noGrp="1"/>
          </p:cNvSpPr>
          <p:nvPr>
            <p:ph type="title"/>
          </p:nvPr>
        </p:nvSpPr>
        <p:spPr>
          <a:xfrm>
            <a:off x="742131" y="311761"/>
            <a:ext cx="5334197" cy="1708242"/>
          </a:xfrm>
        </p:spPr>
        <p:txBody>
          <a:bodyPr anchor="ctr">
            <a:normAutofit/>
          </a:bodyPr>
          <a:lstStyle/>
          <a:p>
            <a:r>
              <a:rPr lang="en-US" sz="3600" b="1" dirty="0">
                <a:ln w="0"/>
                <a:solidFill>
                  <a:srgbClr val="0070C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PROBLEM STATEMENT</a:t>
            </a:r>
            <a:endParaRPr lang="en-IN" sz="3600" b="1" dirty="0">
              <a:ln w="0"/>
              <a:solidFill>
                <a:srgbClr val="0070C0"/>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DEFB7A72-A478-F511-C5D3-99942028193B}"/>
              </a:ext>
            </a:extLst>
          </p:cNvPr>
          <p:cNvSpPr>
            <a:spLocks noGrp="1"/>
          </p:cNvSpPr>
          <p:nvPr>
            <p:ph idx="1"/>
          </p:nvPr>
        </p:nvSpPr>
        <p:spPr>
          <a:xfrm>
            <a:off x="742132" y="2025446"/>
            <a:ext cx="5334197" cy="4440776"/>
          </a:xfrm>
        </p:spPr>
        <p:txBody>
          <a:bodyPr anchor="ctr">
            <a:no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Chinook wants to analyze the music sales data for company strategy in physical stores:</a:t>
            </a:r>
          </a:p>
          <a:p>
            <a:r>
              <a:rPr lang="en-US" sz="1800" b="1" dirty="0">
                <a:latin typeface="Calibri" panose="020F0502020204030204" pitchFamily="34" charset="0"/>
                <a:ea typeface="Calibri" panose="020F0502020204030204" pitchFamily="34" charset="0"/>
                <a:cs typeface="Calibri" panose="020F0502020204030204" pitchFamily="34" charset="0"/>
              </a:rPr>
              <a:t>Which country has large customer base.</a:t>
            </a:r>
          </a:p>
          <a:p>
            <a:r>
              <a:rPr lang="en-US" sz="1800" b="1" dirty="0">
                <a:latin typeface="Calibri" panose="020F0502020204030204" pitchFamily="34" charset="0"/>
                <a:ea typeface="Calibri" panose="020F0502020204030204" pitchFamily="34" charset="0"/>
                <a:cs typeface="Calibri" panose="020F0502020204030204" pitchFamily="34" charset="0"/>
              </a:rPr>
              <a:t>Which country produce high revenue and basket size.</a:t>
            </a:r>
          </a:p>
          <a:p>
            <a:r>
              <a:rPr lang="en-US" sz="1800" b="1" dirty="0">
                <a:latin typeface="Calibri" panose="020F0502020204030204" pitchFamily="34" charset="0"/>
                <a:ea typeface="Calibri" panose="020F0502020204030204" pitchFamily="34" charset="0"/>
                <a:cs typeface="Calibri" panose="020F0502020204030204" pitchFamily="34" charset="0"/>
              </a:rPr>
              <a:t>What is trend of sales over the years.</a:t>
            </a:r>
          </a:p>
          <a:p>
            <a:r>
              <a:rPr lang="en-US" sz="1800" b="1" dirty="0">
                <a:latin typeface="Calibri" panose="020F0502020204030204" pitchFamily="34" charset="0"/>
                <a:ea typeface="Calibri" panose="020F0502020204030204" pitchFamily="34" charset="0"/>
                <a:cs typeface="Calibri" panose="020F0502020204030204" pitchFamily="34" charset="0"/>
              </a:rPr>
              <a:t>Customer churn rate over the years.</a:t>
            </a:r>
          </a:p>
          <a:p>
            <a:r>
              <a:rPr lang="en-US" sz="1800" b="1" dirty="0">
                <a:latin typeface="Calibri" panose="020F0502020204030204" pitchFamily="34" charset="0"/>
                <a:ea typeface="Calibri" panose="020F0502020204030204" pitchFamily="34" charset="0"/>
                <a:cs typeface="Calibri" panose="020F0502020204030204" pitchFamily="34" charset="0"/>
              </a:rPr>
              <a:t>What are the top genres according to sales performance per country.</a:t>
            </a:r>
          </a:p>
          <a:p>
            <a:r>
              <a:rPr lang="en-US" sz="1800" b="1" dirty="0">
                <a:latin typeface="Calibri" panose="020F0502020204030204" pitchFamily="34" charset="0"/>
                <a:ea typeface="Calibri" panose="020F0502020204030204" pitchFamily="34" charset="0"/>
                <a:cs typeface="Calibri" panose="020F0502020204030204" pitchFamily="34" charset="0"/>
              </a:rPr>
              <a:t>Product recommendation and cross selling initiatives.</a:t>
            </a:r>
          </a:p>
          <a:p>
            <a:r>
              <a:rPr lang="en-US" sz="1800" b="1" dirty="0">
                <a:latin typeface="Calibri" panose="020F0502020204030204" pitchFamily="34" charset="0"/>
                <a:ea typeface="Calibri" panose="020F0502020204030204" pitchFamily="34" charset="0"/>
                <a:cs typeface="Calibri" panose="020F0502020204030204" pitchFamily="34" charset="0"/>
              </a:rPr>
              <a:t>Customer behavior across different segments like new vs old, frequency &amp; value, country, active &amp; churned.</a:t>
            </a:r>
          </a:p>
        </p:txBody>
      </p:sp>
      <p:pic>
        <p:nvPicPr>
          <p:cNvPr id="14" name="Picture 13" descr="Close-up of knobs on amplifier">
            <a:extLst>
              <a:ext uri="{FF2B5EF4-FFF2-40B4-BE49-F238E27FC236}">
                <a16:creationId xmlns:a16="http://schemas.microsoft.com/office/drawing/2014/main" id="{E6E72AC3-784D-1D1E-65B7-8420475B88BD}"/>
              </a:ext>
            </a:extLst>
          </p:cNvPr>
          <p:cNvPicPr>
            <a:picLocks noChangeAspect="1"/>
          </p:cNvPicPr>
          <p:nvPr/>
        </p:nvPicPr>
        <p:blipFill>
          <a:blip r:embed="rId2"/>
          <a:srcRect l="32619" r="15544"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997388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5841E-9410-8597-C9BC-0226E16E1B63}"/>
              </a:ext>
            </a:extLst>
          </p:cNvPr>
          <p:cNvSpPr>
            <a:spLocks noGrp="1"/>
          </p:cNvSpPr>
          <p:nvPr>
            <p:ph type="title"/>
          </p:nvPr>
        </p:nvSpPr>
        <p:spPr/>
        <p:txBody>
          <a:bodyPr/>
          <a:lstStyle/>
          <a:p>
            <a:r>
              <a:rPr lang="en-US" b="1" dirty="0">
                <a:solidFill>
                  <a:srgbClr val="0070C0"/>
                </a:solidFill>
                <a:effectLst>
                  <a:outerShdw blurRad="50800" dist="38100" dir="2700000" algn="tl" rotWithShape="0">
                    <a:prstClr val="black">
                      <a:alpha val="40000"/>
                    </a:prstClr>
                  </a:outerShdw>
                </a:effectLst>
              </a:rPr>
              <a:t>DATABASE SCHEMA</a:t>
            </a:r>
            <a:endParaRPr lang="en-IN" b="1" dirty="0">
              <a:solidFill>
                <a:srgbClr val="0070C0"/>
              </a:solidFill>
              <a:effectLst>
                <a:outerShdw blurRad="50800" dist="38100" dir="2700000" algn="tl" rotWithShape="0">
                  <a:prstClr val="black">
                    <a:alpha val="40000"/>
                  </a:prstClr>
                </a:outerShdw>
              </a:effectLst>
            </a:endParaRPr>
          </a:p>
        </p:txBody>
      </p:sp>
      <p:pic>
        <p:nvPicPr>
          <p:cNvPr id="7" name="Content Placeholder 6">
            <a:extLst>
              <a:ext uri="{FF2B5EF4-FFF2-40B4-BE49-F238E27FC236}">
                <a16:creationId xmlns:a16="http://schemas.microsoft.com/office/drawing/2014/main" id="{46D5FB21-12E0-9A41-A3C4-3084D2ACF241}"/>
              </a:ext>
            </a:extLst>
          </p:cNvPr>
          <p:cNvPicPr>
            <a:picLocks noGrp="1" noChangeAspect="1"/>
          </p:cNvPicPr>
          <p:nvPr>
            <p:ph idx="1"/>
          </p:nvPr>
        </p:nvPicPr>
        <p:blipFill>
          <a:blip r:embed="rId2"/>
          <a:stretch>
            <a:fillRect/>
          </a:stretch>
        </p:blipFill>
        <p:spPr>
          <a:xfrm>
            <a:off x="2595716" y="1657599"/>
            <a:ext cx="6803923" cy="4835276"/>
          </a:xfrm>
          <a:prstGeom prst="rect">
            <a:avLst/>
          </a:prstGeom>
        </p:spPr>
      </p:pic>
    </p:spTree>
    <p:extLst>
      <p:ext uri="{BB962C8B-B14F-4D97-AF65-F5344CB8AC3E}">
        <p14:creationId xmlns:p14="http://schemas.microsoft.com/office/powerpoint/2010/main" val="1911880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95DC-E356-89D1-423C-915F9D5CA37F}"/>
              </a:ext>
            </a:extLst>
          </p:cNvPr>
          <p:cNvSpPr>
            <a:spLocks noGrp="1"/>
          </p:cNvSpPr>
          <p:nvPr>
            <p:ph type="title"/>
          </p:nvPr>
        </p:nvSpPr>
        <p:spPr/>
        <p:txBody>
          <a:bodyPr/>
          <a:lstStyle/>
          <a:p>
            <a:r>
              <a:rPr lang="en-US" b="1" dirty="0">
                <a:solidFill>
                  <a:srgbClr val="0070C0"/>
                </a:solidFill>
                <a:effectLst>
                  <a:outerShdw blurRad="50800" dist="38100" dir="2700000" algn="tl" rotWithShape="0">
                    <a:prstClr val="black">
                      <a:alpha val="40000"/>
                    </a:prstClr>
                  </a:outerShdw>
                </a:effectLst>
              </a:rPr>
              <a:t>DATASET OVERVIEW</a:t>
            </a:r>
            <a:endParaRPr lang="en-IN" b="1" dirty="0">
              <a:solidFill>
                <a:srgbClr val="0070C0"/>
              </a:solidFill>
              <a:effectLst>
                <a:outerShdw blurRad="50800" dist="38100" dir="2700000" algn="tl" rotWithShape="0">
                  <a:prstClr val="black">
                    <a:alpha val="40000"/>
                  </a:prstClr>
                </a:outerShdw>
              </a:effectLst>
            </a:endParaRPr>
          </a:p>
        </p:txBody>
      </p:sp>
      <p:sp>
        <p:nvSpPr>
          <p:cNvPr id="3" name="Content Placeholder 2">
            <a:extLst>
              <a:ext uri="{FF2B5EF4-FFF2-40B4-BE49-F238E27FC236}">
                <a16:creationId xmlns:a16="http://schemas.microsoft.com/office/drawing/2014/main" id="{BC569D7E-8E9C-5D9D-257D-DE7CA14876EE}"/>
              </a:ext>
            </a:extLst>
          </p:cNvPr>
          <p:cNvSpPr>
            <a:spLocks noGrp="1"/>
          </p:cNvSpPr>
          <p:nvPr>
            <p:ph idx="1"/>
          </p:nvPr>
        </p:nvSpPr>
        <p:spPr/>
        <p:txBody>
          <a:bodyPr>
            <a:normAutofit fontScale="92500"/>
          </a:bodyPr>
          <a:lstStyle/>
          <a:p>
            <a:r>
              <a:rPr lang="en-US" sz="2200" b="1" dirty="0">
                <a:latin typeface="Calibri" panose="020F0502020204030204" pitchFamily="34" charset="0"/>
                <a:ea typeface="Calibri" panose="020F0502020204030204" pitchFamily="34" charset="0"/>
                <a:cs typeface="Calibri" panose="020F0502020204030204" pitchFamily="34" charset="0"/>
              </a:rPr>
              <a:t>Customer: it contains details about customer like their name, address, country, contact info.</a:t>
            </a:r>
          </a:p>
          <a:p>
            <a:r>
              <a:rPr lang="en-US" sz="2200" b="1" dirty="0">
                <a:latin typeface="Calibri" panose="020F0502020204030204" pitchFamily="34" charset="0"/>
                <a:ea typeface="Calibri" panose="020F0502020204030204" pitchFamily="34" charset="0"/>
                <a:cs typeface="Calibri" panose="020F0502020204030204" pitchFamily="34" charset="0"/>
              </a:rPr>
              <a:t>Invoice: it contains info about the sale like </a:t>
            </a:r>
            <a:r>
              <a:rPr lang="en-US" sz="2200" b="1" dirty="0" err="1">
                <a:latin typeface="Calibri" panose="020F0502020204030204" pitchFamily="34" charset="0"/>
                <a:ea typeface="Calibri" panose="020F0502020204030204" pitchFamily="34" charset="0"/>
                <a:cs typeface="Calibri" panose="020F0502020204030204" pitchFamily="34" charset="0"/>
              </a:rPr>
              <a:t>customer_id</a:t>
            </a:r>
            <a:r>
              <a:rPr lang="en-US" sz="2200" b="1" dirty="0">
                <a:latin typeface="Calibri" panose="020F0502020204030204" pitchFamily="34" charset="0"/>
                <a:ea typeface="Calibri" panose="020F0502020204030204" pitchFamily="34" charset="0"/>
                <a:cs typeface="Calibri" panose="020F0502020204030204" pitchFamily="34" charset="0"/>
              </a:rPr>
              <a:t>, date of purchase, billing address, city, state, country, total amount.</a:t>
            </a:r>
          </a:p>
          <a:p>
            <a:r>
              <a:rPr lang="en-US" sz="2200" b="1" dirty="0">
                <a:latin typeface="Calibri" panose="020F0502020204030204" pitchFamily="34" charset="0"/>
                <a:ea typeface="Calibri" panose="020F0502020204030204" pitchFamily="34" charset="0"/>
                <a:cs typeface="Calibri" panose="020F0502020204030204" pitchFamily="34" charset="0"/>
              </a:rPr>
              <a:t>Invoice line: it contains each item bought in an invoice like track, unit price, quantity.</a:t>
            </a:r>
          </a:p>
          <a:p>
            <a:r>
              <a:rPr lang="en-US" sz="2200" b="1" dirty="0">
                <a:latin typeface="Calibri" panose="020F0502020204030204" pitchFamily="34" charset="0"/>
                <a:ea typeface="Calibri" panose="020F0502020204030204" pitchFamily="34" charset="0"/>
                <a:cs typeface="Calibri" panose="020F0502020204030204" pitchFamily="34" charset="0"/>
              </a:rPr>
              <a:t>Track: it contains info about the item bought like album it belongs to, media type, genre, composer, byte, milliseconds, unit price.</a:t>
            </a:r>
          </a:p>
          <a:p>
            <a:r>
              <a:rPr lang="en-US" sz="2200" b="1" dirty="0">
                <a:latin typeface="Calibri" panose="020F0502020204030204" pitchFamily="34" charset="0"/>
                <a:ea typeface="Calibri" panose="020F0502020204030204" pitchFamily="34" charset="0"/>
                <a:cs typeface="Calibri" panose="020F0502020204030204" pitchFamily="34" charset="0"/>
              </a:rPr>
              <a:t>Albums, artist, genre, media type: it contains their respective details like their id, name.</a:t>
            </a:r>
          </a:p>
          <a:p>
            <a:r>
              <a:rPr lang="en-US" sz="2200" b="1" dirty="0">
                <a:latin typeface="Calibri" panose="020F0502020204030204" pitchFamily="34" charset="0"/>
                <a:ea typeface="Calibri" panose="020F0502020204030204" pitchFamily="34" charset="0"/>
                <a:cs typeface="Calibri" panose="020F0502020204030204" pitchFamily="34" charset="0"/>
              </a:rPr>
              <a:t>Playlist, playlist track: it contains playlist name, id and track in that playlist.</a:t>
            </a:r>
          </a:p>
          <a:p>
            <a:r>
              <a:rPr lang="en-US" sz="2200" b="1" dirty="0">
                <a:latin typeface="Calibri" panose="020F0502020204030204" pitchFamily="34" charset="0"/>
                <a:ea typeface="Calibri" panose="020F0502020204030204" pitchFamily="34" charset="0"/>
                <a:cs typeface="Calibri" panose="020F0502020204030204" pitchFamily="34" charset="0"/>
              </a:rPr>
              <a:t>Employee: it contains details about employee in the company and which employee is a support rep for customer.</a:t>
            </a:r>
          </a:p>
          <a:p>
            <a:r>
              <a:rPr lang="en-US" sz="2200" b="1" dirty="0">
                <a:latin typeface="Calibri" panose="020F0502020204030204" pitchFamily="34" charset="0"/>
                <a:ea typeface="Calibri" panose="020F0502020204030204" pitchFamily="34" charset="0"/>
                <a:cs typeface="Calibri" panose="020F0502020204030204" pitchFamily="34" charset="0"/>
              </a:rPr>
              <a:t>These are all the tables, some of them has duplicates row, some has missing values, some of the columns which should be present.</a:t>
            </a:r>
            <a:endParaRPr lang="en-IN" sz="22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5957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AEF14-661F-591A-435C-293786042FF7}"/>
              </a:ext>
            </a:extLst>
          </p:cNvPr>
          <p:cNvSpPr>
            <a:spLocks noGrp="1"/>
          </p:cNvSpPr>
          <p:nvPr>
            <p:ph type="title"/>
          </p:nvPr>
        </p:nvSpPr>
        <p:spPr/>
        <p:txBody>
          <a:bodyPr/>
          <a:lstStyle/>
          <a:p>
            <a:r>
              <a:rPr lang="en-US" b="1" dirty="0">
                <a:ln w="0">
                  <a:noFill/>
                </a:ln>
                <a:solidFill>
                  <a:srgbClr val="0070C0"/>
                </a:solidFill>
                <a:effectLst>
                  <a:outerShdw blurRad="38100" dist="19050" dir="2700000" algn="tl" rotWithShape="0">
                    <a:schemeClr val="dk1">
                      <a:alpha val="40000"/>
                    </a:schemeClr>
                  </a:outerShdw>
                </a:effectLst>
              </a:rPr>
              <a:t>CLEANING THE DATASET</a:t>
            </a:r>
            <a:endParaRPr lang="en-IN" b="1" dirty="0">
              <a:ln w="0">
                <a:noFill/>
              </a:ln>
              <a:solidFill>
                <a:srgbClr val="0070C0"/>
              </a:solidFill>
              <a:effectLst>
                <a:outerShdw blurRad="38100" dist="19050" dir="2700000" algn="tl" rotWithShape="0">
                  <a:schemeClr val="dk1">
                    <a:alpha val="40000"/>
                  </a:schemeClr>
                </a:outerShdw>
              </a:effectLst>
            </a:endParaRPr>
          </a:p>
        </p:txBody>
      </p:sp>
      <p:sp>
        <p:nvSpPr>
          <p:cNvPr id="3" name="Content Placeholder 2">
            <a:extLst>
              <a:ext uri="{FF2B5EF4-FFF2-40B4-BE49-F238E27FC236}">
                <a16:creationId xmlns:a16="http://schemas.microsoft.com/office/drawing/2014/main" id="{B8A1B5E1-1080-9353-42DA-63A17645FAF5}"/>
              </a:ext>
            </a:extLst>
          </p:cNvPr>
          <p:cNvSpPr>
            <a:spLocks noGrp="1"/>
          </p:cNvSpPr>
          <p:nvPr>
            <p:ph idx="1"/>
          </p:nvPr>
        </p:nvSpPr>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There are duplicates in the invoice line table as the same customer has same value for every column except invoice line id.</a:t>
            </a:r>
          </a:p>
          <a:p>
            <a:r>
              <a:rPr lang="en-US" sz="2400" b="1" dirty="0">
                <a:latin typeface="Calibri" panose="020F0502020204030204" pitchFamily="34" charset="0"/>
                <a:ea typeface="Calibri" panose="020F0502020204030204" pitchFamily="34" charset="0"/>
                <a:cs typeface="Calibri" panose="020F0502020204030204" pitchFamily="34" charset="0"/>
              </a:rPr>
              <a:t>Which shows that it is duplicate because if the customer is buying same thing, then quantity column should have increased and not new row added.</a:t>
            </a:r>
          </a:p>
          <a:p>
            <a:r>
              <a:rPr lang="en-US" sz="2400" b="1" dirty="0">
                <a:latin typeface="Calibri" panose="020F0502020204030204" pitchFamily="34" charset="0"/>
                <a:ea typeface="Calibri" panose="020F0502020204030204" pitchFamily="34" charset="0"/>
                <a:cs typeface="Calibri" panose="020F0502020204030204" pitchFamily="34" charset="0"/>
              </a:rPr>
              <a:t>There are also duplicates in playlist table, so they are removed too.</a:t>
            </a:r>
          </a:p>
          <a:p>
            <a:r>
              <a:rPr lang="en-US" sz="2400" b="1" dirty="0">
                <a:latin typeface="Calibri" panose="020F0502020204030204" pitchFamily="34" charset="0"/>
                <a:ea typeface="Calibri" panose="020F0502020204030204" pitchFamily="34" charset="0"/>
                <a:cs typeface="Calibri" panose="020F0502020204030204" pitchFamily="34" charset="0"/>
              </a:rPr>
              <a:t>There are missing values in many tables, but we won’t be removing them as they are mostly optional column or columns where we can’t fill them with anything as that will give us misleading result.</a:t>
            </a:r>
          </a:p>
          <a:p>
            <a:r>
              <a:rPr lang="en-US" sz="2400" b="1" dirty="0">
                <a:latin typeface="Calibri" panose="020F0502020204030204" pitchFamily="34" charset="0"/>
                <a:ea typeface="Calibri" panose="020F0502020204030204" pitchFamily="34" charset="0"/>
                <a:cs typeface="Calibri" panose="020F0502020204030204" pitchFamily="34" charset="0"/>
              </a:rPr>
              <a:t>We also added the </a:t>
            </a:r>
            <a:r>
              <a:rPr lang="en-US" sz="2400" b="1" dirty="0" err="1">
                <a:latin typeface="Calibri" panose="020F0502020204030204" pitchFamily="34" charset="0"/>
                <a:ea typeface="Calibri" panose="020F0502020204030204" pitchFamily="34" charset="0"/>
                <a:cs typeface="Calibri" panose="020F0502020204030204" pitchFamily="34" charset="0"/>
              </a:rPr>
              <a:t>ReleaseYear</a:t>
            </a:r>
            <a:r>
              <a:rPr lang="en-US" sz="2400" b="1" dirty="0">
                <a:latin typeface="Calibri" panose="020F0502020204030204" pitchFamily="34" charset="0"/>
                <a:ea typeface="Calibri" panose="020F0502020204030204" pitchFamily="34" charset="0"/>
                <a:cs typeface="Calibri" panose="020F0502020204030204" pitchFamily="34" charset="0"/>
              </a:rPr>
              <a:t> column in album table for future analysis but for now their default value will be null.</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5536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A8A88-AA4E-11E0-B0BB-E1943F550F01}"/>
              </a:ext>
            </a:extLst>
          </p:cNvPr>
          <p:cNvSpPr>
            <a:spLocks noGrp="1"/>
          </p:cNvSpPr>
          <p:nvPr>
            <p:ph type="title"/>
          </p:nvPr>
        </p:nvSpPr>
        <p:spPr>
          <a:xfrm>
            <a:off x="839788" y="761281"/>
            <a:ext cx="3388083" cy="1069975"/>
          </a:xfrm>
        </p:spPr>
        <p:txBody>
          <a:bodyPr>
            <a:normAutofit/>
          </a:bodyPr>
          <a:lstStyle/>
          <a:p>
            <a:pPr algn="ctr"/>
            <a:r>
              <a:rPr lang="en-US" sz="2400" b="1" dirty="0">
                <a:ln w="0"/>
                <a:solidFill>
                  <a:srgbClr val="0070C0"/>
                </a:solidFill>
                <a:effectLst>
                  <a:outerShdw blurRad="38100" dist="19050" dir="2700000" algn="tl" rotWithShape="0">
                    <a:schemeClr val="dk1">
                      <a:alpha val="40000"/>
                    </a:schemeClr>
                  </a:outerShdw>
                </a:effectLst>
              </a:rPr>
              <a:t>CUSTOMER COUNT PER COUNTRY</a:t>
            </a:r>
            <a:endParaRPr lang="en-IN" sz="24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1F1B5004-0F3C-AEA4-4420-F0428DED38F3}"/>
              </a:ext>
            </a:extLst>
          </p:cNvPr>
          <p:cNvSpPr>
            <a:spLocks noGrp="1"/>
          </p:cNvSpPr>
          <p:nvPr>
            <p:ph type="body" sz="half" idx="2"/>
          </p:nvPr>
        </p:nvSpPr>
        <p:spPr>
          <a:xfrm>
            <a:off x="839788" y="2057400"/>
            <a:ext cx="3932237" cy="2760406"/>
          </a:xfrm>
        </p:spPr>
        <p:txBody>
          <a:bodyPr>
            <a:normAutofit/>
          </a:bodyPr>
          <a:lstStyle/>
          <a:p>
            <a:r>
              <a:rPr lang="en-US" sz="2000" b="1" dirty="0">
                <a:solidFill>
                  <a:srgbClr val="0070C0"/>
                </a:solidFill>
                <a:latin typeface="Calibri" panose="020F0502020204030204" pitchFamily="34" charset="0"/>
                <a:ea typeface="Calibri" panose="020F0502020204030204" pitchFamily="34" charset="0"/>
                <a:cs typeface="Calibri" panose="020F0502020204030204" pitchFamily="34" charset="0"/>
              </a:rPr>
              <a:t>INSIGHTS</a:t>
            </a: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From this we see that USA, Canada, France, Brazil, Germany  are top 5 countries with highest count.</a:t>
            </a:r>
          </a:p>
          <a:p>
            <a:pPr marL="28575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Most of the countries have only 1 customer.</a:t>
            </a:r>
          </a:p>
          <a:p>
            <a:pPr marL="285750" indent="-285750">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Countries which has 2-3 customers has potential to increase the count.</a:t>
            </a:r>
            <a:endParaRPr lang="en-IN" sz="1800" b="1"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Content Placeholder 4">
            <a:extLst>
              <a:ext uri="{FF2B5EF4-FFF2-40B4-BE49-F238E27FC236}">
                <a16:creationId xmlns:a16="http://schemas.microsoft.com/office/drawing/2014/main" id="{847CE6C7-4487-9F9E-2012-3DA4C14CDDD4}"/>
              </a:ext>
            </a:extLst>
          </p:cNvPr>
          <p:cNvGraphicFramePr>
            <a:graphicFrameLocks noGrp="1"/>
          </p:cNvGraphicFramePr>
          <p:nvPr>
            <p:ph idx="1"/>
            <p:extLst>
              <p:ext uri="{D42A27DB-BD31-4B8C-83A1-F6EECF244321}">
                <p14:modId xmlns:p14="http://schemas.microsoft.com/office/powerpoint/2010/main" val="3786691250"/>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442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49443-DC0D-1D26-C718-EEE1126E70AD}"/>
              </a:ext>
            </a:extLst>
          </p:cNvPr>
          <p:cNvSpPr>
            <a:spLocks noGrp="1"/>
          </p:cNvSpPr>
          <p:nvPr>
            <p:ph type="title"/>
          </p:nvPr>
        </p:nvSpPr>
        <p:spPr/>
        <p:txBody>
          <a:bodyPr>
            <a:normAutofit/>
          </a:bodyPr>
          <a:lstStyle/>
          <a:p>
            <a:r>
              <a:rPr lang="en-US" sz="2400" b="1" dirty="0">
                <a:ln w="0"/>
                <a:solidFill>
                  <a:srgbClr val="0070C0"/>
                </a:solidFill>
                <a:effectLst>
                  <a:outerShdw blurRad="38100" dist="19050" dir="2700000" algn="tl" rotWithShape="0">
                    <a:schemeClr val="dk1">
                      <a:alpha val="40000"/>
                    </a:schemeClr>
                  </a:outerShdw>
                </a:effectLst>
              </a:rPr>
              <a:t>AVERAGE BASKET SIZE, AMOUNT SPENT PER CUSTOMER</a:t>
            </a:r>
            <a:endParaRPr lang="en-IN" sz="24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FFA8D42D-C226-2E14-6F33-D6CEA8335BC6}"/>
              </a:ext>
            </a:extLst>
          </p:cNvPr>
          <p:cNvSpPr>
            <a:spLocks noGrp="1"/>
          </p:cNvSpPr>
          <p:nvPr>
            <p:ph type="body" sz="half" idx="2"/>
          </p:nvPr>
        </p:nvSpPr>
        <p:spPr/>
        <p:txBody>
          <a:bodyPr/>
          <a:lstStyle/>
          <a:p>
            <a:r>
              <a:rPr lang="en-US" sz="2000" b="1" dirty="0">
                <a:solidFill>
                  <a:srgbClr val="0070C0"/>
                </a:solidFill>
              </a:rPr>
              <a:t>INSIGHTS</a:t>
            </a:r>
          </a:p>
          <a:p>
            <a:pPr marL="285750" indent="-285750">
              <a:buFont typeface="Arial" panose="020B0604020202020204" pitchFamily="34" charset="0"/>
              <a:buChar char="•"/>
            </a:pPr>
            <a:r>
              <a:rPr lang="en-US" sz="1800" b="1" dirty="0"/>
              <a:t>From this we see that countries with high number of customers have average size and spending compared to other countries.</a:t>
            </a:r>
          </a:p>
          <a:p>
            <a:pPr marL="285750" indent="-285750">
              <a:buFont typeface="Arial" panose="020B0604020202020204" pitchFamily="34" charset="0"/>
              <a:buChar char="•"/>
            </a:pPr>
            <a:r>
              <a:rPr lang="en-US" sz="1800" b="1" dirty="0"/>
              <a:t>Ireland and Czech Republic has highest number which shows their willingness to spend big so they can be provided with premium options.</a:t>
            </a:r>
          </a:p>
          <a:p>
            <a:pPr marL="285750" indent="-285750">
              <a:buFont typeface="Arial" panose="020B0604020202020204" pitchFamily="34" charset="0"/>
              <a:buChar char="•"/>
            </a:pPr>
            <a:r>
              <a:rPr lang="en-US" sz="1800" b="1" dirty="0"/>
              <a:t>Countries with low spending like Denmark, Argentina has high chance of churn.</a:t>
            </a:r>
            <a:endParaRPr lang="en-IN" sz="1800" b="1" dirty="0"/>
          </a:p>
        </p:txBody>
      </p:sp>
      <p:graphicFrame>
        <p:nvGraphicFramePr>
          <p:cNvPr id="5" name="Content Placeholder 4">
            <a:extLst>
              <a:ext uri="{FF2B5EF4-FFF2-40B4-BE49-F238E27FC236}">
                <a16:creationId xmlns:a16="http://schemas.microsoft.com/office/drawing/2014/main" id="{DBC8ED3F-6AB6-7406-3892-4FB48B31BCE9}"/>
              </a:ext>
            </a:extLst>
          </p:cNvPr>
          <p:cNvGraphicFramePr>
            <a:graphicFrameLocks noGrp="1"/>
          </p:cNvGraphicFramePr>
          <p:nvPr>
            <p:ph idx="1"/>
            <p:extLst>
              <p:ext uri="{D42A27DB-BD31-4B8C-83A1-F6EECF244321}">
                <p14:modId xmlns:p14="http://schemas.microsoft.com/office/powerpoint/2010/main" val="490435016"/>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47486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9D191-954E-40E2-4091-2DD27BF83EF9}"/>
              </a:ext>
            </a:extLst>
          </p:cNvPr>
          <p:cNvSpPr>
            <a:spLocks noGrp="1"/>
          </p:cNvSpPr>
          <p:nvPr>
            <p:ph type="title"/>
          </p:nvPr>
        </p:nvSpPr>
        <p:spPr/>
        <p:txBody>
          <a:bodyPr>
            <a:normAutofit/>
          </a:bodyPr>
          <a:lstStyle/>
          <a:p>
            <a:r>
              <a:rPr lang="en-US" sz="2800" b="1" dirty="0">
                <a:ln w="0"/>
                <a:solidFill>
                  <a:srgbClr val="0070C0"/>
                </a:solidFill>
                <a:effectLst>
                  <a:outerShdw blurRad="38100" dist="19050" dir="2700000" algn="tl" rotWithShape="0">
                    <a:schemeClr val="dk1">
                      <a:alpha val="40000"/>
                    </a:schemeClr>
                  </a:outerShdw>
                </a:effectLst>
              </a:rPr>
              <a:t>TOP 10 COUNTRIES PER TOTAL REVENUE</a:t>
            </a:r>
            <a:endParaRPr lang="en-IN" sz="28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802A32A2-A2C4-6896-7E0E-EB1E7DC48AC4}"/>
              </a:ext>
            </a:extLst>
          </p:cNvPr>
          <p:cNvSpPr>
            <a:spLocks noGrp="1"/>
          </p:cNvSpPr>
          <p:nvPr>
            <p:ph type="body" sz="half" idx="2"/>
          </p:nvPr>
        </p:nvSpPr>
        <p:spPr/>
        <p:txBody>
          <a:bodyPr/>
          <a:lstStyle/>
          <a:p>
            <a:r>
              <a:rPr lang="en-US" sz="2000" b="1" dirty="0">
                <a:solidFill>
                  <a:srgbClr val="0070C0"/>
                </a:solidFill>
              </a:rPr>
              <a:t>INSIGHTS</a:t>
            </a:r>
            <a:endParaRPr lang="en-US" sz="2000" b="1" dirty="0"/>
          </a:p>
          <a:p>
            <a:pPr marL="285750" indent="-285750">
              <a:buFont typeface="Arial" panose="020B0604020202020204" pitchFamily="34" charset="0"/>
              <a:buChar char="•"/>
            </a:pPr>
            <a:r>
              <a:rPr lang="en-IN" sz="1800" b="1" dirty="0"/>
              <a:t>From here we see that revenue has direct relation with number of invoices.</a:t>
            </a:r>
          </a:p>
          <a:p>
            <a:pPr marL="285750" indent="-285750">
              <a:buFont typeface="Arial" panose="020B0604020202020204" pitchFamily="34" charset="0"/>
              <a:buChar char="•"/>
            </a:pPr>
            <a:r>
              <a:rPr lang="en-IN" sz="1800" b="1" dirty="0"/>
              <a:t>USA has highest revenue which means that their market has more opportunities.</a:t>
            </a:r>
          </a:p>
          <a:p>
            <a:pPr marL="285750" indent="-285750">
              <a:buFont typeface="Arial" panose="020B0604020202020204" pitchFamily="34" charset="0"/>
              <a:buChar char="•"/>
            </a:pPr>
            <a:r>
              <a:rPr lang="en-IN" sz="1800" b="1" dirty="0"/>
              <a:t>Countries around 40-70 total invoices has more potential to offer loyalty program, increasing visits by providing discounts.</a:t>
            </a:r>
          </a:p>
        </p:txBody>
      </p:sp>
      <p:graphicFrame>
        <p:nvGraphicFramePr>
          <p:cNvPr id="5" name="Content Placeholder 4">
            <a:extLst>
              <a:ext uri="{FF2B5EF4-FFF2-40B4-BE49-F238E27FC236}">
                <a16:creationId xmlns:a16="http://schemas.microsoft.com/office/drawing/2014/main" id="{80DB9848-C8CB-8F21-A10E-6254611E5434}"/>
              </a:ext>
            </a:extLst>
          </p:cNvPr>
          <p:cNvGraphicFramePr>
            <a:graphicFrameLocks noGrp="1"/>
          </p:cNvGraphicFramePr>
          <p:nvPr>
            <p:ph idx="1"/>
            <p:extLst>
              <p:ext uri="{D42A27DB-BD31-4B8C-83A1-F6EECF244321}">
                <p14:modId xmlns:p14="http://schemas.microsoft.com/office/powerpoint/2010/main" val="2067542429"/>
              </p:ext>
            </p:extLst>
          </p:nvPr>
        </p:nvGraphicFramePr>
        <p:xfrm>
          <a:off x="5183187" y="987425"/>
          <a:ext cx="6389687"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433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E6F87-C833-5DDF-C422-DB14098D9C67}"/>
              </a:ext>
            </a:extLst>
          </p:cNvPr>
          <p:cNvSpPr>
            <a:spLocks noGrp="1"/>
          </p:cNvSpPr>
          <p:nvPr>
            <p:ph type="title"/>
          </p:nvPr>
        </p:nvSpPr>
        <p:spPr>
          <a:xfrm>
            <a:off x="839788" y="1317513"/>
            <a:ext cx="3932237" cy="671052"/>
          </a:xfrm>
        </p:spPr>
        <p:txBody>
          <a:bodyPr>
            <a:normAutofit/>
          </a:bodyPr>
          <a:lstStyle/>
          <a:p>
            <a:r>
              <a:rPr lang="en-US" sz="2800" b="1" dirty="0">
                <a:ln w="0"/>
                <a:solidFill>
                  <a:srgbClr val="0070C0"/>
                </a:solidFill>
                <a:effectLst>
                  <a:outerShdw blurRad="38100" dist="19050" dir="2700000" algn="tl" rotWithShape="0">
                    <a:schemeClr val="dk1">
                      <a:alpha val="40000"/>
                    </a:schemeClr>
                  </a:outerShdw>
                </a:effectLst>
              </a:rPr>
              <a:t>GENRE REVENUE IN USA</a:t>
            </a:r>
            <a:endParaRPr lang="en-IN" sz="28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939CC5AB-AB7B-E47C-7C3D-ED8BEFADB5E1}"/>
              </a:ext>
            </a:extLst>
          </p:cNvPr>
          <p:cNvSpPr>
            <a:spLocks noGrp="1"/>
          </p:cNvSpPr>
          <p:nvPr>
            <p:ph type="body" sz="half" idx="2"/>
          </p:nvPr>
        </p:nvSpPr>
        <p:spPr/>
        <p:txBody>
          <a:bodyPr>
            <a:normAutofit lnSpcReduction="10000"/>
          </a:bodyPr>
          <a:lstStyle/>
          <a:p>
            <a:r>
              <a:rPr lang="en-US" sz="2000" b="1" dirty="0">
                <a:solidFill>
                  <a:srgbClr val="0070C0"/>
                </a:solidFill>
              </a:rPr>
              <a:t>INSIGHTS</a:t>
            </a:r>
          </a:p>
          <a:p>
            <a:pPr marL="285750" indent="-285750">
              <a:buFont typeface="Arial" panose="020B0604020202020204" pitchFamily="34" charset="0"/>
              <a:buChar char="•"/>
            </a:pPr>
            <a:r>
              <a:rPr lang="en-US" sz="1800" b="1" dirty="0"/>
              <a:t>We see that Rock genre has generated highest revenue with big gap between it and other genres.</a:t>
            </a:r>
          </a:p>
          <a:p>
            <a:pPr marL="285750" indent="-285750">
              <a:buFont typeface="Arial" panose="020B0604020202020204" pitchFamily="34" charset="0"/>
              <a:buChar char="•"/>
            </a:pPr>
            <a:r>
              <a:rPr lang="en-US" sz="1800" b="1" dirty="0"/>
              <a:t>Metal, Alternative &amp; Punk are the next highest to generate revenue.</a:t>
            </a:r>
          </a:p>
          <a:p>
            <a:pPr marL="285750" indent="-285750">
              <a:buFont typeface="Arial" panose="020B0604020202020204" pitchFamily="34" charset="0"/>
              <a:buChar char="•"/>
            </a:pPr>
            <a:r>
              <a:rPr lang="en-US" sz="1800" b="1" dirty="0"/>
              <a:t>Alternatives, Blues, R&amp;B/Soul these genres are after the 2</a:t>
            </a:r>
            <a:r>
              <a:rPr lang="en-US" sz="1800" b="1" baseline="30000" dirty="0"/>
              <a:t>nd</a:t>
            </a:r>
            <a:r>
              <a:rPr lang="en-US" sz="1800" b="1" dirty="0"/>
              <a:t> group.</a:t>
            </a:r>
          </a:p>
          <a:p>
            <a:pPr marL="285750" indent="-285750">
              <a:buFont typeface="Arial" panose="020B0604020202020204" pitchFamily="34" charset="0"/>
              <a:buChar char="•"/>
            </a:pPr>
            <a:r>
              <a:rPr lang="en-US" sz="1800" b="1" dirty="0"/>
              <a:t>This shows that customer buy Rock as 1</a:t>
            </a:r>
            <a:r>
              <a:rPr lang="en-US" sz="1800" b="1" baseline="30000" dirty="0"/>
              <a:t>st</a:t>
            </a:r>
            <a:r>
              <a:rPr lang="en-US" sz="1800" b="1" dirty="0"/>
              <a:t> choice, 2</a:t>
            </a:r>
            <a:r>
              <a:rPr lang="en-US" sz="1800" b="1" baseline="30000" dirty="0"/>
              <a:t>nd</a:t>
            </a:r>
            <a:r>
              <a:rPr lang="en-US" sz="1800" b="1" dirty="0"/>
              <a:t> group as next choice, 3</a:t>
            </a:r>
            <a:r>
              <a:rPr lang="en-US" sz="1800" b="1" baseline="30000" dirty="0"/>
              <a:t>rd</a:t>
            </a:r>
            <a:r>
              <a:rPr lang="en-US" sz="1800" b="1" dirty="0"/>
              <a:t> group as next choice.</a:t>
            </a:r>
          </a:p>
          <a:p>
            <a:pPr marL="285750" indent="-285750">
              <a:buFont typeface="Arial" panose="020B0604020202020204" pitchFamily="34" charset="0"/>
              <a:buChar char="•"/>
            </a:pPr>
            <a:r>
              <a:rPr lang="en-US" sz="1800" b="1" dirty="0"/>
              <a:t>This is mostly true for many customers in their visits.</a:t>
            </a:r>
            <a:endParaRPr lang="en-IN" sz="1800" b="1" dirty="0"/>
          </a:p>
        </p:txBody>
      </p:sp>
      <p:graphicFrame>
        <p:nvGraphicFramePr>
          <p:cNvPr id="5" name="Content Placeholder 4">
            <a:extLst>
              <a:ext uri="{FF2B5EF4-FFF2-40B4-BE49-F238E27FC236}">
                <a16:creationId xmlns:a16="http://schemas.microsoft.com/office/drawing/2014/main" id="{4CD5E631-2E6D-0F08-5A45-57CA3C4E3156}"/>
              </a:ext>
            </a:extLst>
          </p:cNvPr>
          <p:cNvGraphicFramePr>
            <a:graphicFrameLocks noGrp="1"/>
          </p:cNvGraphicFramePr>
          <p:nvPr>
            <p:ph idx="1"/>
            <p:extLst>
              <p:ext uri="{D42A27DB-BD31-4B8C-83A1-F6EECF244321}">
                <p14:modId xmlns:p14="http://schemas.microsoft.com/office/powerpoint/2010/main" val="3571544985"/>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24539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DD03B-04FA-333F-DCC6-9CAFFBF398E9}"/>
              </a:ext>
            </a:extLst>
          </p:cNvPr>
          <p:cNvSpPr>
            <a:spLocks noGrp="1"/>
          </p:cNvSpPr>
          <p:nvPr>
            <p:ph type="title"/>
          </p:nvPr>
        </p:nvSpPr>
        <p:spPr/>
        <p:txBody>
          <a:bodyPr>
            <a:normAutofit/>
          </a:bodyPr>
          <a:lstStyle/>
          <a:p>
            <a:r>
              <a:rPr lang="en-US" sz="2800" b="1" dirty="0">
                <a:ln w="0"/>
                <a:solidFill>
                  <a:srgbClr val="0070C0"/>
                </a:solidFill>
                <a:effectLst>
                  <a:outerShdw blurRad="38100" dist="19050" dir="2700000" algn="tl" rotWithShape="0">
                    <a:schemeClr val="dk1">
                      <a:alpha val="40000"/>
                    </a:schemeClr>
                  </a:outerShdw>
                </a:effectLst>
              </a:rPr>
              <a:t>TOP GENRE PER COUNTRY</a:t>
            </a:r>
            <a:endParaRPr lang="en-IN" sz="28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5EDBBEA7-A9C8-3837-8EB3-7FD73AC52D23}"/>
              </a:ext>
            </a:extLst>
          </p:cNvPr>
          <p:cNvSpPr>
            <a:spLocks noGrp="1"/>
          </p:cNvSpPr>
          <p:nvPr>
            <p:ph type="body" sz="half" idx="2"/>
          </p:nvPr>
        </p:nvSpPr>
        <p:spPr/>
        <p:txBody>
          <a:bodyPr/>
          <a:lstStyle/>
          <a:p>
            <a:r>
              <a:rPr lang="en-US" sz="2000" b="1" dirty="0">
                <a:solidFill>
                  <a:srgbClr val="0070C0"/>
                </a:solidFill>
              </a:rPr>
              <a:t>INSIGHTS</a:t>
            </a:r>
          </a:p>
          <a:p>
            <a:pPr marL="285750" indent="-285750">
              <a:buFont typeface="Arial" panose="020B0604020202020204" pitchFamily="34" charset="0"/>
              <a:buChar char="•"/>
            </a:pPr>
            <a:r>
              <a:rPr lang="en-US" sz="1800" b="1" dirty="0"/>
              <a:t>This shows that like USA most of the other countries has Rock as their top genre.</a:t>
            </a:r>
          </a:p>
          <a:p>
            <a:pPr marL="285750" indent="-285750">
              <a:buFont typeface="Arial" panose="020B0604020202020204" pitchFamily="34" charset="0"/>
              <a:buChar char="•"/>
            </a:pPr>
            <a:r>
              <a:rPr lang="en-US" sz="1800" b="1" dirty="0"/>
              <a:t>Argentina is the only one which has Alternative &amp; Punk as top genre.</a:t>
            </a:r>
          </a:p>
          <a:p>
            <a:pPr marL="285750" indent="-285750">
              <a:buFont typeface="Arial" panose="020B0604020202020204" pitchFamily="34" charset="0"/>
              <a:buChar char="•"/>
            </a:pPr>
            <a:r>
              <a:rPr lang="en-US" sz="1800" b="1" dirty="0"/>
              <a:t>From this Canada has highest revenue with Brazil, France, Germany next in line.</a:t>
            </a:r>
          </a:p>
          <a:p>
            <a:pPr marL="285750" indent="-285750">
              <a:buFont typeface="Arial" panose="020B0604020202020204" pitchFamily="34" charset="0"/>
              <a:buChar char="•"/>
            </a:pPr>
            <a:r>
              <a:rPr lang="en-US" sz="1800" b="1" dirty="0"/>
              <a:t>This will help in recommendation of tracks or albums for stores in countries.</a:t>
            </a:r>
            <a:endParaRPr lang="en-IN" sz="1800" b="1" dirty="0"/>
          </a:p>
        </p:txBody>
      </p:sp>
      <p:graphicFrame>
        <p:nvGraphicFramePr>
          <p:cNvPr id="5" name="Content Placeholder 4">
            <a:extLst>
              <a:ext uri="{FF2B5EF4-FFF2-40B4-BE49-F238E27FC236}">
                <a16:creationId xmlns:a16="http://schemas.microsoft.com/office/drawing/2014/main" id="{BA4CC85B-A3C3-BEB1-E5E2-F7C51EA2E911}"/>
              </a:ext>
            </a:extLst>
          </p:cNvPr>
          <p:cNvGraphicFramePr>
            <a:graphicFrameLocks noGrp="1"/>
          </p:cNvGraphicFramePr>
          <p:nvPr>
            <p:ph idx="1"/>
            <p:extLst>
              <p:ext uri="{D42A27DB-BD31-4B8C-83A1-F6EECF244321}">
                <p14:modId xmlns:p14="http://schemas.microsoft.com/office/powerpoint/2010/main" val="664044353"/>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68322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B0AE8-41CB-DE02-6BB1-FC28E4993AD0}"/>
              </a:ext>
            </a:extLst>
          </p:cNvPr>
          <p:cNvSpPr>
            <a:spLocks noGrp="1"/>
          </p:cNvSpPr>
          <p:nvPr>
            <p:ph type="title"/>
          </p:nvPr>
        </p:nvSpPr>
        <p:spPr/>
        <p:txBody>
          <a:bodyPr>
            <a:normAutofit/>
          </a:bodyPr>
          <a:lstStyle/>
          <a:p>
            <a:r>
              <a:rPr lang="en-US" sz="3600" b="1" dirty="0">
                <a:ln w="0"/>
                <a:solidFill>
                  <a:srgbClr val="0070C0"/>
                </a:solidFill>
                <a:effectLst>
                  <a:outerShdw blurRad="38100" dist="19050" dir="2700000" algn="tl" rotWithShape="0">
                    <a:schemeClr val="dk1">
                      <a:alpha val="40000"/>
                    </a:schemeClr>
                  </a:outerShdw>
                </a:effectLst>
              </a:rPr>
              <a:t>TREND IN CUSTOMER PURCHASING BEHAVIOR</a:t>
            </a:r>
            <a:endParaRPr lang="en-IN" sz="3600" b="1" dirty="0">
              <a:ln w="0"/>
              <a:solidFill>
                <a:srgbClr val="0070C0"/>
              </a:solidFill>
              <a:effectLst>
                <a:outerShdw blurRad="38100" dist="19050" dir="2700000" algn="tl" rotWithShape="0">
                  <a:schemeClr val="dk1">
                    <a:alpha val="40000"/>
                  </a:schemeClr>
                </a:outerShdw>
              </a:effectLst>
            </a:endParaRPr>
          </a:p>
        </p:txBody>
      </p:sp>
      <p:sp>
        <p:nvSpPr>
          <p:cNvPr id="3" name="Text Placeholder 2">
            <a:extLst>
              <a:ext uri="{FF2B5EF4-FFF2-40B4-BE49-F238E27FC236}">
                <a16:creationId xmlns:a16="http://schemas.microsoft.com/office/drawing/2014/main" id="{59411B22-E50B-7B7F-80B6-D0FDA7F0AE5D}"/>
              </a:ext>
            </a:extLst>
          </p:cNvPr>
          <p:cNvSpPr>
            <a:spLocks noGrp="1"/>
          </p:cNvSpPr>
          <p:nvPr>
            <p:ph type="body" idx="1"/>
          </p:nvPr>
        </p:nvSpPr>
        <p:spPr>
          <a:xfrm>
            <a:off x="839788" y="1199538"/>
            <a:ext cx="4145167" cy="686109"/>
          </a:xfrm>
        </p:spPr>
        <p:txBody>
          <a:bodyPr>
            <a:noAutofit/>
          </a:bodyPr>
          <a:lstStyle/>
          <a:p>
            <a:r>
              <a:rPr lang="en-US" sz="3200" dirty="0">
                <a:solidFill>
                  <a:srgbClr val="0070C0"/>
                </a:solidFill>
                <a:latin typeface="Calibri" panose="020F0502020204030204" pitchFamily="34" charset="0"/>
                <a:ea typeface="Calibri" panose="020F0502020204030204" pitchFamily="34" charset="0"/>
                <a:cs typeface="Calibri" panose="020F0502020204030204" pitchFamily="34" charset="0"/>
              </a:rPr>
              <a:t>Sales Count trend</a:t>
            </a:r>
            <a:endParaRPr lang="en-IN" sz="32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Content Placeholder 13">
            <a:extLst>
              <a:ext uri="{FF2B5EF4-FFF2-40B4-BE49-F238E27FC236}">
                <a16:creationId xmlns:a16="http://schemas.microsoft.com/office/drawing/2014/main" id="{15C02CAE-448F-B686-E882-23D67E51DB30}"/>
              </a:ext>
            </a:extLst>
          </p:cNvPr>
          <p:cNvSpPr>
            <a:spLocks noGrp="1"/>
          </p:cNvSpPr>
          <p:nvPr>
            <p:ph sz="half" idx="2"/>
          </p:nvPr>
        </p:nvSpPr>
        <p:spPr>
          <a:xfrm>
            <a:off x="839788" y="2013466"/>
            <a:ext cx="4145167" cy="4235190"/>
          </a:xfrm>
        </p:spPr>
        <p:txBody>
          <a:bodyPr>
            <a:normAutofit lnSpcReduction="10000"/>
          </a:bodyPr>
          <a:lstStyle/>
          <a:p>
            <a:pPr marL="0" indent="0">
              <a:buNone/>
            </a:pPr>
            <a:r>
              <a:rPr lang="en-US" sz="2000" b="1" dirty="0">
                <a:solidFill>
                  <a:srgbClr val="0070C0"/>
                </a:solidFill>
              </a:rPr>
              <a:t>INSIGHTS</a:t>
            </a:r>
          </a:p>
          <a:p>
            <a:pPr marL="285750" indent="-285750">
              <a:lnSpc>
                <a:spcPct val="100000"/>
              </a:lnSpc>
            </a:pPr>
            <a:r>
              <a:rPr lang="en-US" sz="1800" b="1" dirty="0"/>
              <a:t>Sales volume shows clear seasonality, with noticeable peaks around March–April and August–September across most years.</a:t>
            </a:r>
          </a:p>
          <a:p>
            <a:pPr marL="285750" indent="-285750">
              <a:lnSpc>
                <a:spcPct val="100000"/>
              </a:lnSpc>
            </a:pPr>
            <a:r>
              <a:rPr lang="en-US" sz="1800" b="1" dirty="0"/>
              <a:t>2019 records the highest and most consistent sales counts, indicating stronger customer demand or improved sales strategy compared to other years.</a:t>
            </a:r>
          </a:p>
          <a:p>
            <a:pPr marL="285750" indent="-285750">
              <a:lnSpc>
                <a:spcPct val="100000"/>
              </a:lnSpc>
            </a:pPr>
            <a:r>
              <a:rPr lang="en-US" sz="1800" b="1" dirty="0"/>
              <a:t>End-of-year sales (November–December) fluctuate significantly, suggesting opportunities for better year-end promotions or inventory planning.</a:t>
            </a:r>
          </a:p>
        </p:txBody>
      </p:sp>
      <p:graphicFrame>
        <p:nvGraphicFramePr>
          <p:cNvPr id="15" name="Content Placeholder 6">
            <a:extLst>
              <a:ext uri="{FF2B5EF4-FFF2-40B4-BE49-F238E27FC236}">
                <a16:creationId xmlns:a16="http://schemas.microsoft.com/office/drawing/2014/main" id="{351FC603-1281-387B-4AEE-3E7622E4EF91}"/>
              </a:ext>
            </a:extLst>
          </p:cNvPr>
          <p:cNvGraphicFramePr>
            <a:graphicFrameLocks noGrp="1"/>
          </p:cNvGraphicFramePr>
          <p:nvPr>
            <p:ph sz="quarter" idx="4"/>
            <p:extLst>
              <p:ext uri="{D42A27DB-BD31-4B8C-83A1-F6EECF244321}">
                <p14:modId xmlns:p14="http://schemas.microsoft.com/office/powerpoint/2010/main" val="1343170545"/>
              </p:ext>
            </p:extLst>
          </p:nvPr>
        </p:nvGraphicFramePr>
        <p:xfrm>
          <a:off x="5663381" y="1523998"/>
          <a:ext cx="5692007" cy="472465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67316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AF62D-9B8B-F296-61FD-4635B6DB6420}"/>
              </a:ext>
            </a:extLst>
          </p:cNvPr>
          <p:cNvSpPr>
            <a:spLocks noGrp="1"/>
          </p:cNvSpPr>
          <p:nvPr>
            <p:ph type="title"/>
          </p:nvPr>
        </p:nvSpPr>
        <p:spPr/>
        <p:txBody>
          <a:bodyPr>
            <a:normAutofit/>
          </a:bodyPr>
          <a:lstStyle/>
          <a:p>
            <a:r>
              <a:rPr lang="en-US" b="1" dirty="0">
                <a:solidFill>
                  <a:srgbClr val="0070C0"/>
                </a:solidFill>
                <a:latin typeface="Calibri" panose="020F0502020204030204" pitchFamily="34" charset="0"/>
                <a:ea typeface="Calibri" panose="020F0502020204030204" pitchFamily="34" charset="0"/>
                <a:cs typeface="Calibri" panose="020F0502020204030204" pitchFamily="34" charset="0"/>
              </a:rPr>
              <a:t>Revenue Generated Trend</a:t>
            </a:r>
            <a:endParaRPr lang="en-IN" b="1" dirty="0"/>
          </a:p>
        </p:txBody>
      </p:sp>
      <p:sp>
        <p:nvSpPr>
          <p:cNvPr id="4" name="Text Placeholder 3">
            <a:extLst>
              <a:ext uri="{FF2B5EF4-FFF2-40B4-BE49-F238E27FC236}">
                <a16:creationId xmlns:a16="http://schemas.microsoft.com/office/drawing/2014/main" id="{40068F48-F432-CCFE-F78C-B6C5B020C355}"/>
              </a:ext>
            </a:extLst>
          </p:cNvPr>
          <p:cNvSpPr>
            <a:spLocks noGrp="1"/>
          </p:cNvSpPr>
          <p:nvPr>
            <p:ph type="body" sz="half" idx="2"/>
          </p:nvPr>
        </p:nvSpPr>
        <p:spPr>
          <a:xfrm>
            <a:off x="839788" y="2057400"/>
            <a:ext cx="3932237" cy="4254910"/>
          </a:xfrm>
        </p:spPr>
        <p:txBody>
          <a:bodyPr>
            <a:normAutofit fontScale="70000" lnSpcReduction="20000"/>
          </a:bodyPr>
          <a:lstStyle/>
          <a:p>
            <a:r>
              <a:rPr lang="en-US" sz="2900" b="1" dirty="0">
                <a:solidFill>
                  <a:srgbClr val="0070C0"/>
                </a:solidFill>
              </a:rPr>
              <a:t>INSIGHTS</a:t>
            </a:r>
          </a:p>
          <a:p>
            <a:pPr marL="285750" indent="-285750">
              <a:lnSpc>
                <a:spcPct val="110000"/>
              </a:lnSpc>
              <a:buFont typeface="Arial" panose="020B0604020202020204" pitchFamily="34" charset="0"/>
              <a:buChar char="•"/>
            </a:pPr>
            <a:r>
              <a:rPr lang="en-US" sz="2600" b="1" dirty="0"/>
              <a:t>Revenue generally peaks mid-year (June–September), even when sales count is moderate, indicating higher-value transactions during this period</a:t>
            </a:r>
          </a:p>
          <a:p>
            <a:pPr marL="285750" indent="-285750">
              <a:lnSpc>
                <a:spcPct val="110000"/>
              </a:lnSpc>
              <a:buFont typeface="Arial" panose="020B0604020202020204" pitchFamily="34" charset="0"/>
              <a:buChar char="•"/>
            </a:pPr>
            <a:r>
              <a:rPr lang="en-US" sz="2600" b="1" dirty="0"/>
              <a:t>2018 shows sharp revenue volatility, suggesting inconsistent pricing, discounting, or changes in customer purchasing behavior.</a:t>
            </a:r>
          </a:p>
          <a:p>
            <a:pPr marL="285750" indent="-285750">
              <a:lnSpc>
                <a:spcPct val="110000"/>
              </a:lnSpc>
              <a:buFont typeface="Arial" panose="020B0604020202020204" pitchFamily="34" charset="0"/>
              <a:buChar char="•"/>
            </a:pPr>
            <a:r>
              <a:rPr lang="en-US" sz="2600" b="1" dirty="0"/>
              <a:t>2020 demonstrates a recovery and upward trend toward year-end, reflecting improved revenue generation despite earlier fluctuations.</a:t>
            </a:r>
            <a:endParaRPr lang="en-IN" sz="2600" b="1" dirty="0"/>
          </a:p>
          <a:p>
            <a:endParaRPr lang="en-IN" b="1" dirty="0"/>
          </a:p>
        </p:txBody>
      </p:sp>
      <p:graphicFrame>
        <p:nvGraphicFramePr>
          <p:cNvPr id="8" name="Content Placeholder 7">
            <a:extLst>
              <a:ext uri="{FF2B5EF4-FFF2-40B4-BE49-F238E27FC236}">
                <a16:creationId xmlns:a16="http://schemas.microsoft.com/office/drawing/2014/main" id="{CB44E2A2-94BA-DE79-F280-FC525B22B1DC}"/>
              </a:ext>
            </a:extLst>
          </p:cNvPr>
          <p:cNvGraphicFramePr>
            <a:graphicFrameLocks noGrp="1"/>
          </p:cNvGraphicFramePr>
          <p:nvPr>
            <p:ph idx="1"/>
            <p:extLst>
              <p:ext uri="{D42A27DB-BD31-4B8C-83A1-F6EECF244321}">
                <p14:modId xmlns:p14="http://schemas.microsoft.com/office/powerpoint/2010/main" val="2118028407"/>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63173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1132A-F600-4A98-B317-BA42A40610D6}"/>
              </a:ext>
            </a:extLst>
          </p:cNvPr>
          <p:cNvSpPr>
            <a:spLocks noGrp="1"/>
          </p:cNvSpPr>
          <p:nvPr>
            <p:ph type="title"/>
          </p:nvPr>
        </p:nvSpPr>
        <p:spPr>
          <a:xfrm>
            <a:off x="420688" y="457200"/>
            <a:ext cx="3932237" cy="1600200"/>
          </a:xfrm>
        </p:spPr>
        <p:txBody>
          <a:bodyPr>
            <a:noAutofit/>
          </a:bodyPr>
          <a:lstStyle/>
          <a:p>
            <a:r>
              <a:rPr lang="en-US" sz="2800" b="1" dirty="0">
                <a:ln w="0"/>
                <a:solidFill>
                  <a:srgbClr val="0070C0"/>
                </a:solidFill>
                <a:effectLst>
                  <a:outerShdw blurRad="38100" dist="19050" dir="2700000" algn="tl" rotWithShape="0">
                    <a:schemeClr val="dk1">
                      <a:alpha val="40000"/>
                    </a:schemeClr>
                  </a:outerShdw>
                </a:effectLst>
              </a:rPr>
              <a:t>FREQUENTLY PURCHASED TOGETHER ITEMS -</a:t>
            </a:r>
            <a:br>
              <a:rPr lang="en-US" sz="2800" b="1" dirty="0">
                <a:ln w="0"/>
                <a:solidFill>
                  <a:srgbClr val="0070C0"/>
                </a:solidFill>
                <a:effectLst>
                  <a:outerShdw blurRad="38100" dist="19050" dir="2700000" algn="tl" rotWithShape="0">
                    <a:schemeClr val="dk1">
                      <a:alpha val="40000"/>
                    </a:schemeClr>
                  </a:outerShdw>
                </a:effectLst>
              </a:rPr>
            </a:br>
            <a:r>
              <a:rPr lang="en-US" sz="2800" b="1" dirty="0">
                <a:ln w="0"/>
                <a:solidFill>
                  <a:srgbClr val="0070C0"/>
                </a:solidFill>
                <a:effectLst>
                  <a:outerShdw blurRad="38100" dist="19050" dir="2700000" algn="tl" rotWithShape="0">
                    <a:schemeClr val="dk1">
                      <a:alpha val="40000"/>
                    </a:schemeClr>
                  </a:outerShdw>
                </a:effectLst>
              </a:rPr>
              <a:t>Genre pairs</a:t>
            </a:r>
            <a:endParaRPr lang="en-IN" sz="28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E388B2E8-BFAF-4670-F3F0-B9BF6B1B933B}"/>
              </a:ext>
            </a:extLst>
          </p:cNvPr>
          <p:cNvSpPr>
            <a:spLocks noGrp="1"/>
          </p:cNvSpPr>
          <p:nvPr>
            <p:ph type="body" sz="half" idx="2"/>
          </p:nvPr>
        </p:nvSpPr>
        <p:spPr>
          <a:xfrm>
            <a:off x="420688" y="2067231"/>
            <a:ext cx="3932237" cy="2455607"/>
          </a:xfrm>
        </p:spPr>
        <p:txBody>
          <a:bodyPr>
            <a:normAutofit/>
          </a:bodyPr>
          <a:lstStyle/>
          <a:p>
            <a:r>
              <a:rPr lang="en-US" sz="2000" b="1" dirty="0">
                <a:solidFill>
                  <a:srgbClr val="0070C0"/>
                </a:solidFill>
              </a:rPr>
              <a:t>INSIGHTS</a:t>
            </a:r>
            <a:endParaRPr lang="en-US" sz="2000" b="1" dirty="0"/>
          </a:p>
          <a:p>
            <a:pPr marL="285750" indent="-285750">
              <a:buFont typeface="Arial" panose="020B0604020202020204" pitchFamily="34" charset="0"/>
              <a:buChar char="•"/>
            </a:pPr>
            <a:r>
              <a:rPr lang="en-US" sz="1800" b="1" dirty="0"/>
              <a:t>Rock appears most frequently across paired purchases.</a:t>
            </a:r>
          </a:p>
          <a:p>
            <a:pPr marL="285750" indent="-285750">
              <a:buFont typeface="Arial" panose="020B0604020202020204" pitchFamily="34" charset="0"/>
              <a:buChar char="•"/>
            </a:pPr>
            <a:r>
              <a:rPr lang="en-US" sz="1800" b="1" dirty="0"/>
              <a:t>Rock appears most frequently across paired purchases.</a:t>
            </a:r>
          </a:p>
          <a:p>
            <a:pPr marL="285750" indent="-285750">
              <a:buFont typeface="Arial" panose="020B0604020202020204" pitchFamily="34" charset="0"/>
              <a:buChar char="•"/>
            </a:pPr>
            <a:r>
              <a:rPr lang="en-US" sz="1800" b="1" dirty="0"/>
              <a:t>Indicates strong cross-genre buying behavior centered around Rock.</a:t>
            </a:r>
            <a:endParaRPr lang="en-IN" sz="1800" b="1" dirty="0"/>
          </a:p>
        </p:txBody>
      </p:sp>
      <p:graphicFrame>
        <p:nvGraphicFramePr>
          <p:cNvPr id="6" name="Content Placeholder 10">
            <a:extLst>
              <a:ext uri="{FF2B5EF4-FFF2-40B4-BE49-F238E27FC236}">
                <a16:creationId xmlns:a16="http://schemas.microsoft.com/office/drawing/2014/main" id="{E9B3B42A-87DD-E5E5-EB1A-351A9DE0D083}"/>
              </a:ext>
            </a:extLst>
          </p:cNvPr>
          <p:cNvGraphicFramePr>
            <a:graphicFrameLocks noGrp="1"/>
          </p:cNvGraphicFramePr>
          <p:nvPr>
            <p:ph idx="1"/>
            <p:extLst>
              <p:ext uri="{D42A27DB-BD31-4B8C-83A1-F6EECF244321}">
                <p14:modId xmlns:p14="http://schemas.microsoft.com/office/powerpoint/2010/main" val="3370170858"/>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86960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32B99-1F6D-61DD-4380-F8D77851AAED}"/>
              </a:ext>
            </a:extLst>
          </p:cNvPr>
          <p:cNvSpPr>
            <a:spLocks noGrp="1"/>
          </p:cNvSpPr>
          <p:nvPr>
            <p:ph type="title"/>
          </p:nvPr>
        </p:nvSpPr>
        <p:spPr/>
        <p:txBody>
          <a:bodyPr/>
          <a:lstStyle/>
          <a:p>
            <a:r>
              <a:rPr lang="en-US" b="1" dirty="0">
                <a:ln w="0"/>
                <a:solidFill>
                  <a:srgbClr val="0070C0"/>
                </a:solidFill>
                <a:effectLst>
                  <a:outerShdw blurRad="38100" dist="19050" dir="2700000" algn="tl" rotWithShape="0">
                    <a:schemeClr val="dk1">
                      <a:alpha val="40000"/>
                    </a:schemeClr>
                  </a:outerShdw>
                </a:effectLst>
              </a:rPr>
              <a:t>Artist Pairs</a:t>
            </a:r>
            <a:endParaRPr lang="en-IN" dirty="0"/>
          </a:p>
        </p:txBody>
      </p:sp>
      <p:sp>
        <p:nvSpPr>
          <p:cNvPr id="4" name="Text Placeholder 3">
            <a:extLst>
              <a:ext uri="{FF2B5EF4-FFF2-40B4-BE49-F238E27FC236}">
                <a16:creationId xmlns:a16="http://schemas.microsoft.com/office/drawing/2014/main" id="{001888A7-7272-86CB-57FC-0FEE8104DFAD}"/>
              </a:ext>
            </a:extLst>
          </p:cNvPr>
          <p:cNvSpPr>
            <a:spLocks noGrp="1"/>
          </p:cNvSpPr>
          <p:nvPr>
            <p:ph type="body" sz="half" idx="2"/>
          </p:nvPr>
        </p:nvSpPr>
        <p:spPr>
          <a:xfrm>
            <a:off x="839788" y="2047568"/>
            <a:ext cx="3932237" cy="2534264"/>
          </a:xfrm>
        </p:spPr>
        <p:txBody>
          <a:bodyPr>
            <a:normAutofit/>
          </a:bodyPr>
          <a:lstStyle/>
          <a:p>
            <a:r>
              <a:rPr lang="en-US" sz="2000" b="1" dirty="0">
                <a:solidFill>
                  <a:srgbClr val="0070C0"/>
                </a:solidFill>
              </a:rPr>
              <a:t>INSIGHTS</a:t>
            </a:r>
            <a:endParaRPr lang="en-US" sz="2000" b="1" dirty="0"/>
          </a:p>
          <a:p>
            <a:pPr marL="285750" indent="-285750">
              <a:buFont typeface="Arial" panose="020B0604020202020204" pitchFamily="34" charset="0"/>
              <a:buChar char="•"/>
            </a:pPr>
            <a:r>
              <a:rPr lang="en-US" sz="1800" b="1" dirty="0"/>
              <a:t>Green Day and Queen appear repeatedly in popular artist pairings</a:t>
            </a:r>
          </a:p>
          <a:p>
            <a:pPr marL="285750" indent="-285750">
              <a:buFont typeface="Arial" panose="020B0604020202020204" pitchFamily="34" charset="0"/>
              <a:buChar char="•"/>
            </a:pPr>
            <a:r>
              <a:rPr lang="en-US" sz="1800" b="1" dirty="0"/>
              <a:t>High co-purchase frequency suggests strong fan overlap.</a:t>
            </a:r>
          </a:p>
          <a:p>
            <a:pPr marL="285750" indent="-285750">
              <a:buFont typeface="Arial" panose="020B0604020202020204" pitchFamily="34" charset="0"/>
              <a:buChar char="•"/>
            </a:pPr>
            <a:r>
              <a:rPr lang="en-US" sz="1800" b="1" dirty="0"/>
              <a:t>High co-purchase frequency suggests strong fan overlap</a:t>
            </a:r>
          </a:p>
        </p:txBody>
      </p:sp>
      <p:graphicFrame>
        <p:nvGraphicFramePr>
          <p:cNvPr id="15" name="Content Placeholder 14">
            <a:extLst>
              <a:ext uri="{FF2B5EF4-FFF2-40B4-BE49-F238E27FC236}">
                <a16:creationId xmlns:a16="http://schemas.microsoft.com/office/drawing/2014/main" id="{EC79ECF0-D374-70A7-5ED0-BD3454C416A4}"/>
              </a:ext>
            </a:extLst>
          </p:cNvPr>
          <p:cNvGraphicFramePr>
            <a:graphicFrameLocks noGrp="1"/>
          </p:cNvGraphicFramePr>
          <p:nvPr>
            <p:ph idx="1"/>
            <p:extLst>
              <p:ext uri="{D42A27DB-BD31-4B8C-83A1-F6EECF244321}">
                <p14:modId xmlns:p14="http://schemas.microsoft.com/office/powerpoint/2010/main" val="4087548293"/>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14335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98F19-A971-7F40-67DF-8E0CFC628435}"/>
              </a:ext>
            </a:extLst>
          </p:cNvPr>
          <p:cNvSpPr>
            <a:spLocks noGrp="1"/>
          </p:cNvSpPr>
          <p:nvPr>
            <p:ph type="title"/>
          </p:nvPr>
        </p:nvSpPr>
        <p:spPr/>
        <p:txBody>
          <a:bodyPr/>
          <a:lstStyle/>
          <a:p>
            <a:r>
              <a:rPr lang="en-US" b="1" dirty="0">
                <a:ln w="0"/>
                <a:solidFill>
                  <a:srgbClr val="0070C0"/>
                </a:solidFill>
                <a:effectLst>
                  <a:outerShdw blurRad="38100" dist="19050" dir="2700000" algn="tl" rotWithShape="0">
                    <a:schemeClr val="dk1">
                      <a:alpha val="40000"/>
                    </a:schemeClr>
                  </a:outerShdw>
                </a:effectLst>
              </a:rPr>
              <a:t>Album Pairs</a:t>
            </a:r>
            <a:endParaRPr lang="en-IN" dirty="0"/>
          </a:p>
        </p:txBody>
      </p:sp>
      <p:sp>
        <p:nvSpPr>
          <p:cNvPr id="4" name="Text Placeholder 3">
            <a:extLst>
              <a:ext uri="{FF2B5EF4-FFF2-40B4-BE49-F238E27FC236}">
                <a16:creationId xmlns:a16="http://schemas.microsoft.com/office/drawing/2014/main" id="{1C78EBCA-A682-40A3-2838-B5E1A5463873}"/>
              </a:ext>
            </a:extLst>
          </p:cNvPr>
          <p:cNvSpPr>
            <a:spLocks noGrp="1"/>
          </p:cNvSpPr>
          <p:nvPr>
            <p:ph type="body" sz="half" idx="2"/>
          </p:nvPr>
        </p:nvSpPr>
        <p:spPr>
          <a:xfrm>
            <a:off x="839788" y="2057399"/>
            <a:ext cx="3932237" cy="2632587"/>
          </a:xfrm>
        </p:spPr>
        <p:txBody>
          <a:bodyPr/>
          <a:lstStyle/>
          <a:p>
            <a:r>
              <a:rPr lang="en-US" sz="2000" b="1" dirty="0">
                <a:solidFill>
                  <a:srgbClr val="0070C0"/>
                </a:solidFill>
              </a:rPr>
              <a:t>INSIGHTS</a:t>
            </a:r>
            <a:endParaRPr lang="en-US" sz="2000" b="1" dirty="0"/>
          </a:p>
          <a:p>
            <a:pPr marL="285750" indent="-285750">
              <a:buFont typeface="Arial" panose="020B0604020202020204" pitchFamily="34" charset="0"/>
              <a:buChar char="•"/>
            </a:pPr>
            <a:r>
              <a:rPr lang="en-US" sz="1800" b="1" dirty="0" err="1"/>
              <a:t>Mezmerize</a:t>
            </a:r>
            <a:r>
              <a:rPr lang="en-US" sz="1800" b="1" dirty="0"/>
              <a:t> is the most frequently co-purchased album.</a:t>
            </a:r>
          </a:p>
          <a:p>
            <a:pPr marL="285750" indent="-285750">
              <a:buFont typeface="Arial" panose="020B0604020202020204" pitchFamily="34" charset="0"/>
              <a:buChar char="•"/>
            </a:pPr>
            <a:r>
              <a:rPr lang="en-US" sz="1800" b="1" dirty="0"/>
              <a:t>Classic and greatest-hits albums show strong group purchases</a:t>
            </a:r>
          </a:p>
          <a:p>
            <a:pPr marL="285750" indent="-285750">
              <a:buFont typeface="Arial" panose="020B0604020202020204" pitchFamily="34" charset="0"/>
              <a:buChar char="•"/>
            </a:pPr>
            <a:r>
              <a:rPr lang="en-US" sz="1800" b="1" dirty="0"/>
              <a:t>Album bundles can increase cart value.</a:t>
            </a:r>
            <a:endParaRPr lang="en-IN" sz="1800" b="1" dirty="0"/>
          </a:p>
        </p:txBody>
      </p:sp>
      <p:graphicFrame>
        <p:nvGraphicFramePr>
          <p:cNvPr id="14" name="Content Placeholder 13">
            <a:extLst>
              <a:ext uri="{FF2B5EF4-FFF2-40B4-BE49-F238E27FC236}">
                <a16:creationId xmlns:a16="http://schemas.microsoft.com/office/drawing/2014/main" id="{5AF53C3F-B77A-1FF1-078D-6E89C3A161B3}"/>
              </a:ext>
            </a:extLst>
          </p:cNvPr>
          <p:cNvGraphicFramePr>
            <a:graphicFrameLocks noGrp="1"/>
          </p:cNvGraphicFramePr>
          <p:nvPr>
            <p:ph idx="1"/>
            <p:extLst>
              <p:ext uri="{D42A27DB-BD31-4B8C-83A1-F6EECF244321}">
                <p14:modId xmlns:p14="http://schemas.microsoft.com/office/powerpoint/2010/main" val="1141778280"/>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95490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A4443-6162-720A-0D4F-4C6F53BFBADE}"/>
              </a:ext>
            </a:extLst>
          </p:cNvPr>
          <p:cNvSpPr>
            <a:spLocks noGrp="1"/>
          </p:cNvSpPr>
          <p:nvPr>
            <p:ph type="title"/>
          </p:nvPr>
        </p:nvSpPr>
        <p:spPr/>
        <p:txBody>
          <a:bodyPr>
            <a:normAutofit/>
          </a:bodyPr>
          <a:lstStyle/>
          <a:p>
            <a:r>
              <a:rPr lang="en-US" sz="2800" b="1" dirty="0">
                <a:ln w="0"/>
                <a:solidFill>
                  <a:srgbClr val="0070C0"/>
                </a:solidFill>
                <a:effectLst>
                  <a:outerShdw blurRad="38100" dist="19050" dir="2700000" algn="tl" rotWithShape="0">
                    <a:schemeClr val="dk1">
                      <a:alpha val="40000"/>
                    </a:schemeClr>
                  </a:outerShdw>
                </a:effectLst>
              </a:rPr>
              <a:t>CHURN RATE PER YEAR</a:t>
            </a:r>
            <a:endParaRPr lang="en-IN" sz="28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09501117-44DB-80DA-F550-751E6A50807E}"/>
              </a:ext>
            </a:extLst>
          </p:cNvPr>
          <p:cNvSpPr>
            <a:spLocks noGrp="1"/>
          </p:cNvSpPr>
          <p:nvPr>
            <p:ph type="body" sz="half" idx="2"/>
          </p:nvPr>
        </p:nvSpPr>
        <p:spPr/>
        <p:txBody>
          <a:bodyPr>
            <a:normAutofit/>
          </a:bodyPr>
          <a:lstStyle/>
          <a:p>
            <a:r>
              <a:rPr lang="en-US" sz="2000" b="1" dirty="0">
                <a:solidFill>
                  <a:srgbClr val="0070C0"/>
                </a:solidFill>
              </a:rPr>
              <a:t>INSIGHTS</a:t>
            </a:r>
          </a:p>
          <a:p>
            <a:pPr marL="285750" indent="-285750">
              <a:buFont typeface="Arial" panose="020B0604020202020204" pitchFamily="34" charset="0"/>
              <a:buChar char="•"/>
            </a:pPr>
            <a:r>
              <a:rPr lang="en-IN" sz="1800" b="1" dirty="0"/>
              <a:t>We see that 2018 and 2019 has higher rate of churned customers compared to 2020.</a:t>
            </a:r>
          </a:p>
          <a:p>
            <a:pPr marL="285750" indent="-285750">
              <a:buFont typeface="Arial" panose="020B0604020202020204" pitchFamily="34" charset="0"/>
              <a:buChar char="•"/>
            </a:pPr>
            <a:r>
              <a:rPr lang="en-IN" sz="1800" b="1" dirty="0"/>
              <a:t>The spike in 2019 can be due to increased competition, pricing issues but that is mostly handled for 2020 leading to lower churn rate.</a:t>
            </a:r>
          </a:p>
        </p:txBody>
      </p:sp>
      <p:graphicFrame>
        <p:nvGraphicFramePr>
          <p:cNvPr id="10" name="Content Placeholder 4">
            <a:extLst>
              <a:ext uri="{FF2B5EF4-FFF2-40B4-BE49-F238E27FC236}">
                <a16:creationId xmlns:a16="http://schemas.microsoft.com/office/drawing/2014/main" id="{51E15D3D-5F0C-7B6C-4BBA-91A705E7640E}"/>
              </a:ext>
            </a:extLst>
          </p:cNvPr>
          <p:cNvGraphicFramePr>
            <a:graphicFrameLocks noGrp="1"/>
          </p:cNvGraphicFramePr>
          <p:nvPr>
            <p:ph idx="1"/>
            <p:extLst>
              <p:ext uri="{D42A27DB-BD31-4B8C-83A1-F6EECF244321}">
                <p14:modId xmlns:p14="http://schemas.microsoft.com/office/powerpoint/2010/main" val="1309112248"/>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83471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7201-6F76-03EA-08BD-09C533E00280}"/>
              </a:ext>
            </a:extLst>
          </p:cNvPr>
          <p:cNvSpPr>
            <a:spLocks noGrp="1"/>
          </p:cNvSpPr>
          <p:nvPr>
            <p:ph type="title"/>
          </p:nvPr>
        </p:nvSpPr>
        <p:spPr/>
        <p:txBody>
          <a:bodyPr/>
          <a:lstStyle/>
          <a:p>
            <a:r>
              <a:rPr lang="en-US" b="1" dirty="0">
                <a:ln w="0"/>
                <a:solidFill>
                  <a:srgbClr val="0070C0"/>
                </a:solidFill>
                <a:effectLst>
                  <a:outerShdw blurRad="38100" dist="19050" dir="2700000" algn="tl" rotWithShape="0">
                    <a:schemeClr val="dk1">
                      <a:alpha val="40000"/>
                    </a:schemeClr>
                  </a:outerShdw>
                </a:effectLst>
              </a:rPr>
              <a:t>CHURN RATE PER COUNTRY</a:t>
            </a:r>
            <a:endParaRPr lang="en-IN" dirty="0"/>
          </a:p>
        </p:txBody>
      </p:sp>
      <p:sp>
        <p:nvSpPr>
          <p:cNvPr id="4" name="Text Placeholder 3">
            <a:extLst>
              <a:ext uri="{FF2B5EF4-FFF2-40B4-BE49-F238E27FC236}">
                <a16:creationId xmlns:a16="http://schemas.microsoft.com/office/drawing/2014/main" id="{3096C1B3-0D58-51B5-B9B0-AA9C9E1FCDB3}"/>
              </a:ext>
            </a:extLst>
          </p:cNvPr>
          <p:cNvSpPr>
            <a:spLocks noGrp="1"/>
          </p:cNvSpPr>
          <p:nvPr>
            <p:ph type="body" sz="half" idx="2"/>
          </p:nvPr>
        </p:nvSpPr>
        <p:spPr>
          <a:xfrm>
            <a:off x="839788" y="2057400"/>
            <a:ext cx="3932237" cy="2858729"/>
          </a:xfrm>
        </p:spPr>
        <p:txBody>
          <a:bodyPr/>
          <a:lstStyle/>
          <a:p>
            <a:r>
              <a:rPr lang="en-US" sz="2000" b="1" dirty="0">
                <a:solidFill>
                  <a:srgbClr val="0070C0"/>
                </a:solidFill>
              </a:rPr>
              <a:t>INSIGHTS</a:t>
            </a:r>
          </a:p>
          <a:p>
            <a:pPr marL="285750" indent="-285750">
              <a:buFont typeface="Arial" panose="020B0604020202020204" pitchFamily="34" charset="0"/>
              <a:buChar char="•"/>
            </a:pPr>
            <a:r>
              <a:rPr lang="en-IN" sz="1800" b="1" dirty="0"/>
              <a:t>Countries with 100% churn rate are likely due to small customer base.</a:t>
            </a:r>
          </a:p>
          <a:p>
            <a:pPr marL="285750" indent="-285750">
              <a:buFont typeface="Arial" panose="020B0604020202020204" pitchFamily="34" charset="0"/>
              <a:buChar char="•"/>
            </a:pPr>
            <a:r>
              <a:rPr lang="en-IN" sz="1800" b="1" dirty="0"/>
              <a:t>Focus on countries with moderate churn rate like USA, Canada, Germany as they have potential to improve retention.</a:t>
            </a:r>
          </a:p>
          <a:p>
            <a:endParaRPr lang="en-IN" dirty="0"/>
          </a:p>
        </p:txBody>
      </p:sp>
      <p:graphicFrame>
        <p:nvGraphicFramePr>
          <p:cNvPr id="6" name="Content Placeholder 5">
            <a:extLst>
              <a:ext uri="{FF2B5EF4-FFF2-40B4-BE49-F238E27FC236}">
                <a16:creationId xmlns:a16="http://schemas.microsoft.com/office/drawing/2014/main" id="{B8FEF38B-3E60-AD2C-D077-37BB5EA383C2}"/>
              </a:ext>
            </a:extLst>
          </p:cNvPr>
          <p:cNvGraphicFramePr>
            <a:graphicFrameLocks noGrp="1"/>
          </p:cNvGraphicFramePr>
          <p:nvPr>
            <p:ph idx="1"/>
            <p:extLst>
              <p:ext uri="{D42A27DB-BD31-4B8C-83A1-F6EECF244321}">
                <p14:modId xmlns:p14="http://schemas.microsoft.com/office/powerpoint/2010/main" val="4137740462"/>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56829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D702A-A063-CFF0-6349-45DC5CB6227C}"/>
              </a:ext>
            </a:extLst>
          </p:cNvPr>
          <p:cNvSpPr>
            <a:spLocks noGrp="1"/>
          </p:cNvSpPr>
          <p:nvPr>
            <p:ph type="title"/>
          </p:nvPr>
        </p:nvSpPr>
        <p:spPr>
          <a:xfrm>
            <a:off x="839788" y="309717"/>
            <a:ext cx="3932237" cy="1600200"/>
          </a:xfrm>
        </p:spPr>
        <p:txBody>
          <a:bodyPr>
            <a:normAutofit/>
          </a:bodyPr>
          <a:lstStyle/>
          <a:p>
            <a:r>
              <a:rPr lang="en-US" sz="2800" b="1" dirty="0">
                <a:ln w="0"/>
                <a:solidFill>
                  <a:srgbClr val="0070C0"/>
                </a:solidFill>
                <a:effectLst>
                  <a:outerShdw blurRad="38100" dist="19050" dir="2700000" algn="tl" rotWithShape="0">
                    <a:schemeClr val="dk1">
                      <a:alpha val="40000"/>
                    </a:schemeClr>
                  </a:outerShdw>
                </a:effectLst>
              </a:rPr>
              <a:t>PURCHASING BEHAVIOR B/W NEW AND LONG-TERM CUSTOMERS</a:t>
            </a:r>
            <a:endParaRPr lang="en-IN" sz="28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4EDFD61E-6B08-0ABD-AC60-32CA467B121A}"/>
              </a:ext>
            </a:extLst>
          </p:cNvPr>
          <p:cNvSpPr>
            <a:spLocks noGrp="1"/>
          </p:cNvSpPr>
          <p:nvPr>
            <p:ph type="body" sz="half" idx="2"/>
          </p:nvPr>
        </p:nvSpPr>
        <p:spPr>
          <a:xfrm>
            <a:off x="839788" y="2057399"/>
            <a:ext cx="3932237" cy="4461387"/>
          </a:xfrm>
        </p:spPr>
        <p:txBody>
          <a:bodyPr>
            <a:normAutofit fontScale="92500" lnSpcReduction="20000"/>
          </a:bodyPr>
          <a:lstStyle/>
          <a:p>
            <a:r>
              <a:rPr lang="en-US" sz="2200" b="1" dirty="0">
                <a:solidFill>
                  <a:srgbClr val="0070C0"/>
                </a:solidFill>
                <a:ea typeface="Calibri" panose="020F0502020204030204" pitchFamily="34" charset="0"/>
                <a:cs typeface="Calibri" panose="020F0502020204030204" pitchFamily="34" charset="0"/>
              </a:rPr>
              <a:t>INSIGHTS</a:t>
            </a:r>
          </a:p>
          <a:p>
            <a:pPr marL="285750" lvl="0" indent="-285750">
              <a:buFont typeface="Arial" panose="020B0604020202020204" pitchFamily="34" charset="0"/>
              <a:buChar char="•"/>
            </a:pPr>
            <a:r>
              <a:rPr lang="en-GB" sz="1900" b="1" dirty="0">
                <a:ea typeface="Calibri" panose="020F0502020204030204" pitchFamily="34" charset="0"/>
                <a:cs typeface="Calibri" panose="020F0502020204030204" pitchFamily="34" charset="0"/>
              </a:rPr>
              <a:t>New customers exhibit higher purchase frequency and slightly   larger basket sizes during their first year, indicating strong initial engagement. </a:t>
            </a:r>
            <a:endParaRPr lang="en-IN" sz="1900" b="1" dirty="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GB" sz="1900" b="1" dirty="0">
                <a:ea typeface="Calibri" panose="020F0502020204030204" pitchFamily="34" charset="0"/>
                <a:cs typeface="Calibri" panose="020F0502020204030204" pitchFamily="34" charset="0"/>
              </a:rPr>
              <a:t>Over time, customers transition into more stable but less frequent purchasing behaviour, with slightly reduced spending per transaction. </a:t>
            </a:r>
            <a:endParaRPr lang="en-IN" sz="1900" b="1" dirty="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GB" sz="1900" b="1" dirty="0">
                <a:ea typeface="Calibri" panose="020F0502020204030204" pitchFamily="34" charset="0"/>
                <a:cs typeface="Calibri" panose="020F0502020204030204" pitchFamily="34" charset="0"/>
              </a:rPr>
              <a:t>Old customers have low engagement, are habit driven, selective</a:t>
            </a:r>
            <a:endParaRPr lang="en-IN" sz="1900" b="1" dirty="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GB" sz="1900" b="1" dirty="0">
                <a:ea typeface="Calibri" panose="020F0502020204030204" pitchFamily="34" charset="0"/>
                <a:cs typeface="Calibri" panose="020F0502020204030204" pitchFamily="34" charset="0"/>
              </a:rPr>
              <a:t>This suggests that retention strategies should focus on sustaining early engagement momentum through loyalty programs and personalized offers.</a:t>
            </a:r>
            <a:endParaRPr lang="en-IN" sz="1900" b="1" dirty="0">
              <a:ea typeface="Calibri" panose="020F0502020204030204" pitchFamily="34" charset="0"/>
              <a:cs typeface="Calibri" panose="020F0502020204030204" pitchFamily="34" charset="0"/>
            </a:endParaRPr>
          </a:p>
        </p:txBody>
      </p:sp>
      <p:graphicFrame>
        <p:nvGraphicFramePr>
          <p:cNvPr id="7" name="Content Placeholder 6">
            <a:extLst>
              <a:ext uri="{FF2B5EF4-FFF2-40B4-BE49-F238E27FC236}">
                <a16:creationId xmlns:a16="http://schemas.microsoft.com/office/drawing/2014/main" id="{1E89C175-FEF1-7051-9304-BBA7A779423C}"/>
              </a:ext>
            </a:extLst>
          </p:cNvPr>
          <p:cNvGraphicFramePr>
            <a:graphicFrameLocks noGrp="1"/>
          </p:cNvGraphicFramePr>
          <p:nvPr>
            <p:ph idx="1"/>
            <p:extLst>
              <p:ext uri="{D42A27DB-BD31-4B8C-83A1-F6EECF244321}">
                <p14:modId xmlns:p14="http://schemas.microsoft.com/office/powerpoint/2010/main" val="222567673"/>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39767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7C123-930D-C8A4-6E42-E28A9D3AE759}"/>
              </a:ext>
            </a:extLst>
          </p:cNvPr>
          <p:cNvSpPr>
            <a:spLocks noGrp="1"/>
          </p:cNvSpPr>
          <p:nvPr>
            <p:ph type="title"/>
          </p:nvPr>
        </p:nvSpPr>
        <p:spPr/>
        <p:txBody>
          <a:bodyPr>
            <a:normAutofit/>
          </a:bodyPr>
          <a:lstStyle/>
          <a:p>
            <a:r>
              <a:rPr lang="en-US" sz="2800" b="1" dirty="0">
                <a:ln w="0"/>
                <a:solidFill>
                  <a:srgbClr val="0070C0"/>
                </a:solidFill>
                <a:effectLst>
                  <a:outerShdw blurRad="38100" dist="19050" dir="2700000" algn="tl" rotWithShape="0">
                    <a:schemeClr val="dk1">
                      <a:alpha val="40000"/>
                    </a:schemeClr>
                  </a:outerShdw>
                </a:effectLst>
              </a:rPr>
              <a:t>CUSTOMER RISK PROFILING</a:t>
            </a:r>
            <a:endParaRPr lang="en-IN" sz="28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89A5E90B-B48F-670C-1079-B2E98D83F924}"/>
              </a:ext>
            </a:extLst>
          </p:cNvPr>
          <p:cNvSpPr>
            <a:spLocks noGrp="1"/>
          </p:cNvSpPr>
          <p:nvPr>
            <p:ph type="body" sz="half" idx="2"/>
          </p:nvPr>
        </p:nvSpPr>
        <p:spPr>
          <a:xfrm>
            <a:off x="839788" y="2057400"/>
            <a:ext cx="3932237" cy="4343400"/>
          </a:xfrm>
        </p:spPr>
        <p:txBody>
          <a:bodyPr>
            <a:normAutofit lnSpcReduction="10000"/>
          </a:bodyPr>
          <a:lstStyle/>
          <a:p>
            <a:r>
              <a:rPr lang="en-US" sz="2000" b="1" dirty="0">
                <a:solidFill>
                  <a:srgbClr val="0070C0"/>
                </a:solidFill>
              </a:rPr>
              <a:t>INSIGHTS</a:t>
            </a:r>
            <a:endParaRPr lang="en-US" b="1" dirty="0"/>
          </a:p>
          <a:p>
            <a:pPr marL="285750" indent="-285750">
              <a:buFont typeface="Arial" panose="020B0604020202020204" pitchFamily="34" charset="0"/>
              <a:buChar char="•"/>
            </a:pPr>
            <a:r>
              <a:rPr lang="en-US" sz="1800" b="1" dirty="0"/>
              <a:t>Customers with high frequency has significantly low churn customers, it means that high engagement is the way to retention.</a:t>
            </a:r>
          </a:p>
          <a:p>
            <a:pPr marL="285750" indent="-285750">
              <a:buFont typeface="Arial" panose="020B0604020202020204" pitchFamily="34" charset="0"/>
              <a:buChar char="•"/>
            </a:pPr>
            <a:r>
              <a:rPr lang="en-US" sz="1800" b="1" dirty="0"/>
              <a:t>Low frequency and low value has unexpectedly low churn which shows that they are casual customers.</a:t>
            </a:r>
          </a:p>
          <a:p>
            <a:pPr marL="285750" indent="-285750">
              <a:buFont typeface="Arial" panose="020B0604020202020204" pitchFamily="34" charset="0"/>
              <a:buChar char="•"/>
            </a:pPr>
            <a:r>
              <a:rPr lang="en-US" sz="1800" b="1" dirty="0"/>
              <a:t>Low frequency and high value has highest churn customers which shows that they might be customers who buys in bulk.</a:t>
            </a:r>
          </a:p>
          <a:p>
            <a:pPr marL="285750" indent="-285750">
              <a:buFont typeface="Arial" panose="020B0604020202020204" pitchFamily="34" charset="0"/>
              <a:buChar char="•"/>
            </a:pPr>
            <a:r>
              <a:rPr lang="en-US" sz="1800" b="1" dirty="0"/>
              <a:t>So it shows customer with low frequency has higher chance of churn.</a:t>
            </a:r>
            <a:endParaRPr lang="en-IN" sz="1800" b="1" dirty="0"/>
          </a:p>
        </p:txBody>
      </p:sp>
      <p:graphicFrame>
        <p:nvGraphicFramePr>
          <p:cNvPr id="5" name="Content Placeholder 4">
            <a:extLst>
              <a:ext uri="{FF2B5EF4-FFF2-40B4-BE49-F238E27FC236}">
                <a16:creationId xmlns:a16="http://schemas.microsoft.com/office/drawing/2014/main" id="{4D6546FC-B1A0-3695-E15A-1BEEFD580669}"/>
              </a:ext>
            </a:extLst>
          </p:cNvPr>
          <p:cNvGraphicFramePr>
            <a:graphicFrameLocks noGrp="1"/>
          </p:cNvGraphicFramePr>
          <p:nvPr>
            <p:ph idx="1"/>
            <p:extLst>
              <p:ext uri="{D42A27DB-BD31-4B8C-83A1-F6EECF244321}">
                <p14:modId xmlns:p14="http://schemas.microsoft.com/office/powerpoint/2010/main" val="1380898231"/>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00512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D7459-2FAE-AB0D-E406-CA6E9C2CF832}"/>
              </a:ext>
            </a:extLst>
          </p:cNvPr>
          <p:cNvSpPr>
            <a:spLocks noGrp="1"/>
          </p:cNvSpPr>
          <p:nvPr>
            <p:ph type="title"/>
          </p:nvPr>
        </p:nvSpPr>
        <p:spPr/>
        <p:txBody>
          <a:bodyPr/>
          <a:lstStyle/>
          <a:p>
            <a:r>
              <a:rPr lang="en-US" sz="2800" b="1" dirty="0">
                <a:ln w="0"/>
                <a:solidFill>
                  <a:srgbClr val="0070C0"/>
                </a:solidFill>
                <a:effectLst>
                  <a:outerShdw blurRad="38100" dist="19050" dir="2700000" algn="tl" rotWithShape="0">
                    <a:schemeClr val="dk1">
                      <a:alpha val="40000"/>
                    </a:schemeClr>
                  </a:outerShdw>
                </a:effectLst>
              </a:rPr>
              <a:t>CUSTOMER</a:t>
            </a:r>
            <a:r>
              <a:rPr lang="en-US" b="1" dirty="0">
                <a:ln w="0"/>
                <a:solidFill>
                  <a:srgbClr val="0070C0"/>
                </a:solidFill>
                <a:effectLst>
                  <a:outerShdw blurRad="38100" dist="19050" dir="2700000" algn="tl" rotWithShape="0">
                    <a:schemeClr val="dk1">
                      <a:alpha val="40000"/>
                    </a:schemeClr>
                  </a:outerShdw>
                </a:effectLst>
              </a:rPr>
              <a:t> </a:t>
            </a:r>
            <a:r>
              <a:rPr lang="en-US" sz="2800" b="1" dirty="0">
                <a:ln w="0"/>
                <a:solidFill>
                  <a:srgbClr val="0070C0"/>
                </a:solidFill>
                <a:effectLst>
                  <a:outerShdw blurRad="38100" dist="19050" dir="2700000" algn="tl" rotWithShape="0">
                    <a:schemeClr val="dk1">
                      <a:alpha val="40000"/>
                    </a:schemeClr>
                  </a:outerShdw>
                </a:effectLst>
              </a:rPr>
              <a:t>LIFETIME</a:t>
            </a:r>
            <a:r>
              <a:rPr lang="en-US" b="1" dirty="0">
                <a:ln w="0"/>
                <a:solidFill>
                  <a:srgbClr val="0070C0"/>
                </a:solidFill>
                <a:effectLst>
                  <a:outerShdw blurRad="38100" dist="19050" dir="2700000" algn="tl" rotWithShape="0">
                    <a:schemeClr val="dk1">
                      <a:alpha val="40000"/>
                    </a:schemeClr>
                  </a:outerShdw>
                </a:effectLst>
              </a:rPr>
              <a:t> </a:t>
            </a:r>
            <a:r>
              <a:rPr lang="en-US" sz="2800" b="1" dirty="0">
                <a:ln w="0"/>
                <a:solidFill>
                  <a:srgbClr val="0070C0"/>
                </a:solidFill>
                <a:effectLst>
                  <a:outerShdw blurRad="38100" dist="19050" dir="2700000" algn="tl" rotWithShape="0">
                    <a:schemeClr val="dk1">
                      <a:alpha val="40000"/>
                    </a:schemeClr>
                  </a:outerShdw>
                </a:effectLst>
              </a:rPr>
              <a:t>VALUE (CLV)</a:t>
            </a:r>
            <a:endParaRPr lang="en-IN" sz="2800" b="1" dirty="0">
              <a:ln w="0"/>
              <a:solidFill>
                <a:srgbClr val="0070C0"/>
              </a:solidFill>
              <a:effectLst>
                <a:outerShdw blurRad="38100" dist="19050" dir="2700000" algn="tl" rotWithShape="0">
                  <a:schemeClr val="dk1">
                    <a:alpha val="40000"/>
                  </a:schemeClr>
                </a:outerShdw>
              </a:effectLst>
            </a:endParaRPr>
          </a:p>
        </p:txBody>
      </p:sp>
      <p:sp>
        <p:nvSpPr>
          <p:cNvPr id="4" name="Text Placeholder 3">
            <a:extLst>
              <a:ext uri="{FF2B5EF4-FFF2-40B4-BE49-F238E27FC236}">
                <a16:creationId xmlns:a16="http://schemas.microsoft.com/office/drawing/2014/main" id="{A8E18459-1F52-98FE-7546-4C18BD844C76}"/>
              </a:ext>
            </a:extLst>
          </p:cNvPr>
          <p:cNvSpPr>
            <a:spLocks noGrp="1"/>
          </p:cNvSpPr>
          <p:nvPr>
            <p:ph type="body" sz="half" idx="2"/>
          </p:nvPr>
        </p:nvSpPr>
        <p:spPr/>
        <p:txBody>
          <a:bodyPr/>
          <a:lstStyle/>
          <a:p>
            <a:r>
              <a:rPr lang="en-US" sz="2000" b="1" dirty="0">
                <a:solidFill>
                  <a:srgbClr val="0070C0"/>
                </a:solidFill>
                <a:ea typeface="Calibri" panose="020F0502020204030204" pitchFamily="34" charset="0"/>
                <a:cs typeface="Calibri" panose="020F0502020204030204" pitchFamily="34" charset="0"/>
              </a:rPr>
              <a:t>INSIGHTS</a:t>
            </a:r>
            <a:endParaRPr lang="en-US" sz="2000" b="1" dirty="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GB" sz="1800" b="1" dirty="0">
                <a:latin typeface="Calibri" panose="020F0502020204030204" pitchFamily="34" charset="0"/>
                <a:ea typeface="Calibri" panose="020F0502020204030204" pitchFamily="34" charset="0"/>
                <a:cs typeface="Calibri" panose="020F0502020204030204" pitchFamily="34" charset="0"/>
              </a:rPr>
              <a:t>Results indicate that high-frequency exhibit significantly higher CLV.</a:t>
            </a: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GB" sz="1800" b="1" dirty="0">
                <a:latin typeface="Calibri" panose="020F0502020204030204" pitchFamily="34" charset="0"/>
                <a:ea typeface="Calibri" panose="020F0502020204030204" pitchFamily="34" charset="0"/>
                <a:cs typeface="Calibri" panose="020F0502020204030204" pitchFamily="34" charset="0"/>
              </a:rPr>
              <a:t>While churned customers generate lower lifetime revenue, reinforcing the importance of engagement-driven retention strategies</a:t>
            </a:r>
            <a:endParaRPr lang="en-IN" sz="1800"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0" name="Content Placeholder 9">
            <a:extLst>
              <a:ext uri="{FF2B5EF4-FFF2-40B4-BE49-F238E27FC236}">
                <a16:creationId xmlns:a16="http://schemas.microsoft.com/office/drawing/2014/main" id="{1D972883-7DC1-ED8A-BB59-D371112F4A3E}"/>
              </a:ext>
            </a:extLst>
          </p:cNvPr>
          <p:cNvGraphicFramePr>
            <a:graphicFrameLocks noGrp="1"/>
          </p:cNvGraphicFramePr>
          <p:nvPr>
            <p:ph idx="1"/>
            <p:extLst>
              <p:ext uri="{D42A27DB-BD31-4B8C-83A1-F6EECF244321}">
                <p14:modId xmlns:p14="http://schemas.microsoft.com/office/powerpoint/2010/main" val="1682727239"/>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2108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15204-44EF-DB7A-F751-029CEBCA5DC4}"/>
              </a:ext>
            </a:extLst>
          </p:cNvPr>
          <p:cNvSpPr>
            <a:spLocks noGrp="1"/>
          </p:cNvSpPr>
          <p:nvPr>
            <p:ph type="title"/>
          </p:nvPr>
        </p:nvSpPr>
        <p:spPr/>
        <p:txBody>
          <a:bodyPr>
            <a:normAutofit/>
          </a:bodyPr>
          <a:lstStyle/>
          <a:p>
            <a:r>
              <a:rPr lang="en-US" sz="3200" b="1" dirty="0">
                <a:ln w="0"/>
                <a:solidFill>
                  <a:srgbClr val="0070C0"/>
                </a:solidFill>
                <a:effectLst>
                  <a:outerShdw blurRad="38100" dist="19050" dir="2700000" algn="tl" rotWithShape="0">
                    <a:schemeClr val="dk1">
                      <a:alpha val="40000"/>
                    </a:schemeClr>
                  </a:outerShdw>
                </a:effectLst>
              </a:rPr>
              <a:t>CONCLUSION</a:t>
            </a:r>
            <a:endParaRPr lang="en-IN" sz="3200" b="1" dirty="0">
              <a:ln w="0"/>
              <a:solidFill>
                <a:srgbClr val="0070C0"/>
              </a:solidFill>
              <a:effectLst>
                <a:outerShdw blurRad="38100" dist="19050" dir="2700000" algn="tl" rotWithShape="0">
                  <a:schemeClr val="dk1">
                    <a:alpha val="40000"/>
                  </a:schemeClr>
                </a:outerShdw>
              </a:effectLst>
            </a:endParaRPr>
          </a:p>
        </p:txBody>
      </p:sp>
      <p:sp>
        <p:nvSpPr>
          <p:cNvPr id="3" name="Content Placeholder 2">
            <a:extLst>
              <a:ext uri="{FF2B5EF4-FFF2-40B4-BE49-F238E27FC236}">
                <a16:creationId xmlns:a16="http://schemas.microsoft.com/office/drawing/2014/main" id="{E92ECAE9-0711-51EC-D527-8CCB0621AC5E}"/>
              </a:ext>
            </a:extLst>
          </p:cNvPr>
          <p:cNvSpPr>
            <a:spLocks noGrp="1"/>
          </p:cNvSpPr>
          <p:nvPr>
            <p:ph idx="1"/>
          </p:nvPr>
        </p:nvSpPr>
        <p:spPr/>
        <p:txBody>
          <a:bodyPr>
            <a:normAutofit fontScale="92500" lnSpcReduction="10000"/>
          </a:bodyPr>
          <a:lstStyle/>
          <a:p>
            <a:r>
              <a:rPr lang="en-US" b="1" dirty="0"/>
              <a:t>Based on the analysis we see that Rock, metal, A&amp;P are most famous genres.</a:t>
            </a:r>
          </a:p>
          <a:p>
            <a:r>
              <a:rPr lang="en-US" b="1" dirty="0"/>
              <a:t>USA, Brazil, Canada, France, Germany have the highest revenue.</a:t>
            </a:r>
          </a:p>
          <a:p>
            <a:r>
              <a:rPr lang="en-US" b="1" dirty="0"/>
              <a:t>Low frequency customers tend to churn more.</a:t>
            </a:r>
          </a:p>
          <a:p>
            <a:r>
              <a:rPr lang="en-US" b="1" dirty="0"/>
              <a:t>Long term customers has low frequency compared to new customers but are more stable.</a:t>
            </a:r>
          </a:p>
          <a:p>
            <a:r>
              <a:rPr lang="en-IN" b="1" dirty="0"/>
              <a:t>CLV of high frequency and active customers is higher.</a:t>
            </a:r>
          </a:p>
          <a:p>
            <a:r>
              <a:rPr lang="en-IN" b="1" dirty="0"/>
              <a:t>Sales get positive feedback in mid-year.</a:t>
            </a:r>
          </a:p>
          <a:p>
            <a:r>
              <a:rPr lang="en-IN" b="1" dirty="0"/>
              <a:t>There are groups of genre, artist that people usually buy tracks off.</a:t>
            </a:r>
          </a:p>
          <a:p>
            <a:r>
              <a:rPr lang="en-IN" b="1" dirty="0"/>
              <a:t>Customers bought tracks most that are in MPEG audio file.</a:t>
            </a:r>
          </a:p>
        </p:txBody>
      </p:sp>
    </p:spTree>
    <p:extLst>
      <p:ext uri="{BB962C8B-B14F-4D97-AF65-F5344CB8AC3E}">
        <p14:creationId xmlns:p14="http://schemas.microsoft.com/office/powerpoint/2010/main" val="2707128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A30BD-888B-2D60-37CB-58630976A494}"/>
              </a:ext>
            </a:extLst>
          </p:cNvPr>
          <p:cNvSpPr>
            <a:spLocks noGrp="1"/>
          </p:cNvSpPr>
          <p:nvPr>
            <p:ph type="title"/>
          </p:nvPr>
        </p:nvSpPr>
        <p:spPr/>
        <p:txBody>
          <a:bodyPr>
            <a:normAutofit/>
          </a:bodyPr>
          <a:lstStyle/>
          <a:p>
            <a:r>
              <a:rPr lang="en-US" sz="3200" b="1" dirty="0">
                <a:ln w="0"/>
                <a:solidFill>
                  <a:srgbClr val="0070C0"/>
                </a:solidFill>
                <a:effectLst>
                  <a:outerShdw blurRad="38100" dist="19050" dir="2700000" algn="tl" rotWithShape="0">
                    <a:schemeClr val="dk1">
                      <a:alpha val="40000"/>
                    </a:schemeClr>
                  </a:outerShdw>
                </a:effectLst>
              </a:rPr>
              <a:t>RECOMMENDATIONS</a:t>
            </a:r>
            <a:endParaRPr lang="en-IN" sz="3200" b="1" dirty="0">
              <a:ln w="0"/>
              <a:solidFill>
                <a:srgbClr val="0070C0"/>
              </a:solidFill>
              <a:effectLst>
                <a:outerShdw blurRad="38100" dist="19050" dir="2700000" algn="tl" rotWithShape="0">
                  <a:schemeClr val="dk1">
                    <a:alpha val="40000"/>
                  </a:schemeClr>
                </a:outerShdw>
              </a:effectLst>
            </a:endParaRPr>
          </a:p>
        </p:txBody>
      </p:sp>
      <p:sp>
        <p:nvSpPr>
          <p:cNvPr id="3" name="Content Placeholder 2">
            <a:extLst>
              <a:ext uri="{FF2B5EF4-FFF2-40B4-BE49-F238E27FC236}">
                <a16:creationId xmlns:a16="http://schemas.microsoft.com/office/drawing/2014/main" id="{35550A24-4C3E-4195-0438-BC996DEBE3A1}"/>
              </a:ext>
            </a:extLst>
          </p:cNvPr>
          <p:cNvSpPr>
            <a:spLocks noGrp="1"/>
          </p:cNvSpPr>
          <p:nvPr>
            <p:ph idx="1"/>
          </p:nvPr>
        </p:nvSpPr>
        <p:spPr/>
        <p:txBody>
          <a:bodyPr>
            <a:normAutofit fontScale="85000" lnSpcReduction="10000"/>
          </a:bodyPr>
          <a:lstStyle/>
          <a:p>
            <a:r>
              <a:rPr lang="en-US" b="1" dirty="0"/>
              <a:t>Company should sell tracks of Rock, Metal, Alternative &amp; punk genres more.</a:t>
            </a:r>
          </a:p>
          <a:p>
            <a:r>
              <a:rPr lang="en-US" b="1" dirty="0"/>
              <a:t>It should offer loyalty program to countries with high revenue, frequency, stable or low churn rate.</a:t>
            </a:r>
          </a:p>
          <a:p>
            <a:r>
              <a:rPr lang="en-US" b="1" dirty="0"/>
              <a:t>There should be more intensive strategy to keep customer retention for customers in their 1</a:t>
            </a:r>
            <a:r>
              <a:rPr lang="en-US" b="1" baseline="30000" dirty="0"/>
              <a:t>st</a:t>
            </a:r>
            <a:r>
              <a:rPr lang="en-US" b="1" dirty="0"/>
              <a:t> year as they tend to buy more.</a:t>
            </a:r>
          </a:p>
          <a:p>
            <a:r>
              <a:rPr lang="en-US" b="1" dirty="0"/>
              <a:t>Tracks should be sold in MPEG file format.</a:t>
            </a:r>
          </a:p>
          <a:p>
            <a:r>
              <a:rPr lang="en-IN" b="1" dirty="0"/>
              <a:t>There should be sales, events in mid-year, end of year to get a seasonal effect.</a:t>
            </a:r>
          </a:p>
          <a:p>
            <a:r>
              <a:rPr lang="en-GB" b="1" dirty="0"/>
              <a:t>Targeting strategies focused on increasing customer frequency may yield better retention results.</a:t>
            </a:r>
            <a:endParaRPr lang="en-IN" b="1" dirty="0"/>
          </a:p>
          <a:p>
            <a:r>
              <a:rPr lang="en-IN" b="1" dirty="0"/>
              <a:t>Do not invest heavily in countries with less number of customers and low revenue too.</a:t>
            </a:r>
          </a:p>
        </p:txBody>
      </p:sp>
    </p:spTree>
    <p:extLst>
      <p:ext uri="{BB962C8B-B14F-4D97-AF65-F5344CB8AC3E}">
        <p14:creationId xmlns:p14="http://schemas.microsoft.com/office/powerpoint/2010/main" val="3782641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2322</TotalTime>
  <Words>1500</Words>
  <Application>Microsoft Office PowerPoint</Application>
  <PresentationFormat>Widescreen</PresentationFormat>
  <Paragraphs>138</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DATA-DRIVEN INSIGHTS FOR CHINOOK’S PHYSICAL MUSIC MARKET STRATEGY</vt:lpstr>
      <vt:lpstr>PROBLEM STATEMENT</vt:lpstr>
      <vt:lpstr>DATABASE SCHEMA</vt:lpstr>
      <vt:lpstr>DATASET OVERVIEW</vt:lpstr>
      <vt:lpstr>CLEANING THE DATASET</vt:lpstr>
      <vt:lpstr>CUSTOMER COUNT PER COUNTRY</vt:lpstr>
      <vt:lpstr>AVERAGE BASKET SIZE, AMOUNT SPENT PER CUSTOMER</vt:lpstr>
      <vt:lpstr>TOP 10 COUNTRIES PER TOTAL REVENUE</vt:lpstr>
      <vt:lpstr>GENRE REVENUE IN USA</vt:lpstr>
      <vt:lpstr>TOP GENRE PER COUNTRY</vt:lpstr>
      <vt:lpstr>TREND IN CUSTOMER PURCHASING BEHAVIOR</vt:lpstr>
      <vt:lpstr>Revenue Generated Trend</vt:lpstr>
      <vt:lpstr>FREQUENTLY PURCHASED TOGETHER ITEMS - Genre pairs</vt:lpstr>
      <vt:lpstr>Artist Pairs</vt:lpstr>
      <vt:lpstr>Album Pairs</vt:lpstr>
      <vt:lpstr>CHURN RATE PER YEAR</vt:lpstr>
      <vt:lpstr>CHURN RATE PER COUNTRY</vt:lpstr>
      <vt:lpstr>PURCHASING BEHAVIOR B/W NEW AND LONG-TERM CUSTOMERS</vt:lpstr>
      <vt:lpstr>CUSTOMER RISK PROFILING</vt:lpstr>
      <vt:lpstr>CUSTOMER LIFETIME VALUE (CLV)</vt:lpstr>
      <vt:lpstr>CONCLUSION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Rohan Gupta</dc:creator>
  <cp:lastModifiedBy>Rohan Gupta</cp:lastModifiedBy>
  <cp:revision>129</cp:revision>
  <dcterms:created xsi:type="dcterms:W3CDTF">2026-01-10T10:50:59Z</dcterms:created>
  <dcterms:modified xsi:type="dcterms:W3CDTF">2026-01-29T13:28:25Z</dcterms:modified>
</cp:coreProperties>
</file>